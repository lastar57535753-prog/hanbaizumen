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0688638" cy="7561263"/>
  <p:notesSz cx="7561263" cy="1068863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EAF87"/>
    <a:srgbClr val="D4B483"/>
    <a:srgbClr val="C2A676"/>
    <a:srgbClr val="414143"/>
    <a:srgbClr val="C2BDB5"/>
    <a:srgbClr val="E8D9B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66" d="100"/>
          <a:sy n="66" d="100"/>
        </p:scale>
        <p:origin x="2586" y="9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247775" y="1143000"/>
            <a:ext cx="4362450" cy="3086100"/>
          </a:xfrm>
        </p:spPr>
        <p:txBody>
          <a:bodyPr/>
          <a:lstStyle/>
          <a:p>
            <a:endParaRPr lang="ja-JP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emf"/><Relationship Id="rId4" Type="http://schemas.openxmlformats.org/officeDocument/2006/relationships/image" Target="../media/image2.jpeg"/><Relationship Id="rId5" Type="http://schemas.openxmlformats.org/officeDocument/2006/relationships/image" Target="../media/image3.jpe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7.png"/><Relationship Id="rId10" Type="http://schemas.openxmlformats.org/officeDocument/2006/relationships/image" Target="../media/image8.png"/><Relationship Id="rId11" Type="http://schemas.openxmlformats.org/officeDocument/2006/relationships/image" Target="../media/image9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図形 115"/>
          <p:cNvPicPr>
            <a:picLocks noChangeAspect="1"/>
          </p:cNvPicPr>
          <p:nvPr/>
        </p:nvPicPr>
        <p:blipFill>
          <a:blip r:embed="rId3"/>
          <a:srcRect l="24913" r="22228"/>
          <a:stretch>
            <a:fillRect/>
          </a:stretch>
        </p:blipFill>
        <p:spPr>
          <a:xfrm>
            <a:off x="140419" y="679950"/>
            <a:ext cx="4624118" cy="2934537"/>
          </a:xfrm>
          <a:prstGeom prst="rect">
            <a:avLst/>
          </a:prstGeom>
          <a:effectLst>
            <a:softEdge rad="43200"/>
          </a:effectLst>
        </p:spPr>
      </p:pic>
      <p:sp>
        <p:nvSpPr>
          <p:cNvPr id="168" name="Text 70"/>
          <p:cNvSpPr>
            <a:spLocks noChangeAspect="1"/>
          </p:cNvSpPr>
          <p:nvPr/>
        </p:nvSpPr>
        <p:spPr>
          <a:xfrm>
            <a:off x="212725" y="5761355"/>
            <a:ext cx="759460" cy="1835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dist">
              <a:buNone/>
            </a:pPr>
            <a:r>
              <a:rPr lang="en-US" sz="900" b="1" kern="0" spc="200" dirty="0">
                <a:solidFill>
                  <a:srgbClr val="D4B483"/>
                </a:solidFill>
                <a:latin typeface="HGS明朝E" panose="02020800000000000000" charset="-128"/>
                <a:ea typeface="HGS明朝E" panose="02020800000000000000" charset="-128"/>
                <a:cs typeface="HGS明朝E" panose="02040502050405020303" pitchFamily="34" charset="-120"/>
              </a:rPr>
              <a:t>POINT</a:t>
            </a:r>
            <a:endParaRPr lang="en-US" sz="900" b="1" kern="0" spc="200" dirty="0">
              <a:solidFill>
                <a:srgbClr val="D4B483"/>
              </a:solidFill>
              <a:latin typeface="HGS明朝E" panose="02020800000000000000" charset="-128"/>
              <a:ea typeface="HGS明朝E" panose="02020800000000000000" charset="-128"/>
              <a:cs typeface="Georgia" panose="02040502050405020303" pitchFamily="34" charset="-120"/>
            </a:endParaRPr>
          </a:p>
        </p:txBody>
      </p:sp>
      <p:sp>
        <p:nvSpPr>
          <p:cNvPr id="146" name="正方形/長方形 298"/>
          <p:cNvSpPr>
            <a:spLocks noGrp="1" noRot="1" noChangeAspect="1" noMove="1" noResize="1" noEditPoints="1" noAdjustHandles="1" noChangeArrowheads="1" noChangeShapeType="1"/>
          </p:cNvSpPr>
          <p:nvPr/>
        </p:nvSpPr>
        <p:spPr>
          <a:xfrm>
            <a:off x="0" y="6800850"/>
            <a:ext cx="10680065" cy="744220"/>
          </a:xfrm>
          <a:prstGeom prst="rect">
            <a:avLst/>
          </a:prstGeom>
          <a:solidFill>
            <a:srgbClr val="BEAF87"/>
          </a:solidFill>
          <a:ln w="28575" cap="sq" cmpd="sng">
            <a:solidFill>
              <a:schemeClr val="tx1">
                <a:lumMod val="65000"/>
                <a:lumOff val="3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585">
              <a:ln w="28575" cmpd="dbl">
                <a:solidFill>
                  <a:schemeClr val="bg1"/>
                </a:solidFill>
                <a:prstDash val="solid"/>
              </a:ln>
            </a:endParaRPr>
          </a:p>
        </p:txBody>
      </p:sp>
      <p:pic>
        <p:nvPicPr>
          <p:cNvPr id="149" name="図 297" descr="アイコン&#10;&#10;自動的に生成された説明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326" t="10431" r="11551" b="11056"/>
          <a:stretch>
            <a:fillRect/>
          </a:stretch>
        </p:blipFill>
        <p:spPr>
          <a:xfrm>
            <a:off x="50400" y="6858000"/>
            <a:ext cx="561600" cy="666000"/>
          </a:xfrm>
          <a:prstGeom prst="rect">
            <a:avLst/>
          </a:prstGeom>
        </p:spPr>
      </p:pic>
      <p:sp>
        <p:nvSpPr>
          <p:cNvPr id="176" name="サブタイトル"/>
          <p:cNvSpPr txBox="1">
            <a:spLocks noChangeAspect="1"/>
          </p:cNvSpPr>
          <p:nvPr/>
        </p:nvSpPr>
        <p:spPr bwMode="auto">
          <a:xfrm>
            <a:off x="532597" y="7144042"/>
            <a:ext cx="3517347" cy="1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charset="-128"/>
              </a:defRPr>
            </a:lvl9pPr>
          </a:lstStyle>
          <a:p>
            <a:pPr>
              <a:lnSpc>
                <a:spcPts val="1200"/>
              </a:lnSpc>
              <a:spcBef>
                <a:spcPct val="0"/>
              </a:spcBef>
              <a:buNone/>
            </a:pPr>
            <a:r>
              <a:rPr lang="ja-JP" altLang="en-US" sz="800" b="1" dirty="0">
                <a:latin typeface="HGS明朝E" panose="02020800000000000000" charset="-128"/>
                <a:ea typeface="HGS明朝E" panose="02020800000000000000" charset="-128"/>
                <a:cs typeface="HGS明朝E" panose="02020800000000000000" charset="-128"/>
              </a:rPr>
              <a:t>〒</a:t>
            </a:r>
            <a:r>
              <a:rPr lang="en-US" altLang="ja-JP" sz="800" b="1" dirty="0">
                <a:latin typeface="HGS明朝E" panose="02020800000000000000" charset="-128"/>
                <a:ea typeface="HGS明朝E" panose="02020800000000000000" charset="-128"/>
                <a:cs typeface="HGS明朝E" panose="02020800000000000000" charset="-128"/>
              </a:rPr>
              <a:t>143-0016</a:t>
            </a:r>
            <a:r>
              <a:rPr lang="ja-JP" altLang="en-US" sz="800" b="1" dirty="0">
                <a:latin typeface="HGS明朝E" panose="02020800000000000000" charset="-128"/>
                <a:ea typeface="HGS明朝E" panose="02020800000000000000" charset="-128"/>
                <a:cs typeface="HGS明朝E" panose="02020800000000000000" charset="-128"/>
              </a:rPr>
              <a:t>　東京都大田区大森北</a:t>
            </a:r>
            <a:r>
              <a:rPr lang="en-US" altLang="ja-JP" sz="800" b="1" dirty="0">
                <a:latin typeface="HGS明朝E" panose="02020800000000000000" charset="-128"/>
                <a:ea typeface="HGS明朝E" panose="02020800000000000000" charset="-128"/>
                <a:cs typeface="HGS明朝E" panose="02020800000000000000" charset="-128"/>
              </a:rPr>
              <a:t>1-14-1</a:t>
            </a:r>
            <a:r>
              <a:rPr lang="ja-JP" altLang="en-US" sz="800" b="1" dirty="0">
                <a:latin typeface="HGS明朝E" panose="02020800000000000000" charset="-128"/>
                <a:ea typeface="HGS明朝E" panose="02020800000000000000" charset="-128"/>
                <a:cs typeface="HGS明朝E" panose="02020800000000000000" charset="-128"/>
              </a:rPr>
              <a:t>　</a:t>
            </a:r>
            <a:r>
              <a:rPr lang="en-US" altLang="ja-JP" sz="800" b="1" dirty="0">
                <a:latin typeface="HGS明朝E" panose="02020800000000000000" charset="-128"/>
                <a:ea typeface="HGS明朝E" panose="02020800000000000000" charset="-128"/>
                <a:cs typeface="HGS明朝E" panose="02020800000000000000" charset="-128"/>
              </a:rPr>
              <a:t>FAX:03-5753-0022</a:t>
            </a:r>
          </a:p>
          <a:p>
            <a:pPr>
              <a:lnSpc>
                <a:spcPts val="1200"/>
              </a:lnSpc>
              <a:spcBef>
                <a:spcPct val="0"/>
              </a:spcBef>
              <a:buNone/>
            </a:pPr>
            <a:r>
              <a:rPr lang="ja-JP" altLang="en-US" sz="700" b="1" dirty="0">
                <a:latin typeface="HGS明朝E" panose="02020800000000000000" charset="-128"/>
                <a:ea typeface="HGS明朝E" panose="02020800000000000000" charset="-128"/>
                <a:cs typeface="HGS明朝E" panose="02020800000000000000" charset="-128"/>
              </a:rPr>
              <a:t>東京都知事免許</a:t>
            </a:r>
            <a:r>
              <a:rPr lang="en-US" altLang="ja-JP" sz="700" b="1" dirty="0">
                <a:latin typeface="HGS明朝E" panose="02020800000000000000" charset="-128"/>
                <a:ea typeface="HGS明朝E" panose="02020800000000000000" charset="-128"/>
                <a:cs typeface="HGS明朝E" panose="02020800000000000000" charset="-128"/>
              </a:rPr>
              <a:t>(4)</a:t>
            </a:r>
            <a:r>
              <a:rPr lang="ja-JP" altLang="en-US" sz="700" b="1" dirty="0">
                <a:latin typeface="HGS明朝E" panose="02020800000000000000" charset="-128"/>
                <a:ea typeface="HGS明朝E" panose="02020800000000000000" charset="-128"/>
                <a:cs typeface="HGS明朝E" panose="02020800000000000000" charset="-128"/>
              </a:rPr>
              <a:t>第</a:t>
            </a:r>
            <a:r>
              <a:rPr lang="en-US" altLang="ja-JP" sz="700" b="1" dirty="0">
                <a:latin typeface="HGS明朝E" panose="02020800000000000000" charset="-128"/>
                <a:ea typeface="HGS明朝E" panose="02020800000000000000" charset="-128"/>
                <a:cs typeface="HGS明朝E" panose="02020800000000000000" charset="-128"/>
              </a:rPr>
              <a:t>87972</a:t>
            </a:r>
            <a:r>
              <a:rPr lang="ja-JP" altLang="en-US" sz="700" b="1" dirty="0">
                <a:latin typeface="HGS明朝E" panose="02020800000000000000" charset="-128"/>
                <a:ea typeface="HGS明朝E" panose="02020800000000000000" charset="-128"/>
                <a:cs typeface="HGS明朝E" panose="02020800000000000000" charset="-128"/>
              </a:rPr>
              <a:t>号</a:t>
            </a:r>
            <a:r>
              <a:rPr lang="en-US" altLang="ja-JP" sz="700" b="1" dirty="0">
                <a:latin typeface="HGS明朝E" panose="02020800000000000000" charset="-128"/>
                <a:ea typeface="HGS明朝E" panose="02020800000000000000" charset="-128"/>
                <a:cs typeface="HGS明朝E" panose="02020800000000000000" charset="-128"/>
              </a:rPr>
              <a:t>(</a:t>
            </a:r>
            <a:r>
              <a:rPr lang="ja-JP" altLang="en-US" sz="700" b="1" dirty="0">
                <a:latin typeface="HGS明朝E" panose="02020800000000000000" charset="-128"/>
                <a:ea typeface="HGS明朝E" panose="02020800000000000000" charset="-128"/>
                <a:cs typeface="HGS明朝E" panose="02020800000000000000" charset="-128"/>
              </a:rPr>
              <a:t>公社</a:t>
            </a:r>
            <a:r>
              <a:rPr lang="en-US" altLang="ja-JP" sz="700" b="1" dirty="0">
                <a:latin typeface="HGS明朝E" panose="02020800000000000000" charset="-128"/>
                <a:ea typeface="HGS明朝E" panose="02020800000000000000" charset="-128"/>
                <a:cs typeface="HGS明朝E" panose="02020800000000000000" charset="-128"/>
              </a:rPr>
              <a:t>)</a:t>
            </a:r>
            <a:r>
              <a:rPr lang="ja-JP" altLang="en-US" sz="700" b="1" dirty="0">
                <a:latin typeface="HGS明朝E" panose="02020800000000000000" charset="-128"/>
                <a:ea typeface="HGS明朝E" panose="02020800000000000000" charset="-128"/>
                <a:cs typeface="HGS明朝E" panose="02020800000000000000" charset="-128"/>
              </a:rPr>
              <a:t>不動産保証協会会員</a:t>
            </a:r>
            <a:r>
              <a:rPr lang="en-US" altLang="ja-JP" sz="700" b="1" dirty="0">
                <a:latin typeface="HGS明朝E" panose="02020800000000000000" charset="-128"/>
                <a:ea typeface="HGS明朝E" panose="02020800000000000000" charset="-128"/>
                <a:cs typeface="HGS明朝E" panose="02020800000000000000" charset="-128"/>
              </a:rPr>
              <a:t>(</a:t>
            </a:r>
            <a:r>
              <a:rPr lang="ja-JP" altLang="en-US" sz="700" b="1" dirty="0">
                <a:latin typeface="HGS明朝E" panose="02020800000000000000" charset="-128"/>
                <a:ea typeface="HGS明朝E" panose="02020800000000000000" charset="-128"/>
                <a:cs typeface="HGS明朝E" panose="02020800000000000000" charset="-128"/>
              </a:rPr>
              <a:t>公社</a:t>
            </a:r>
            <a:r>
              <a:rPr lang="en-US" altLang="ja-JP" sz="700" b="1" dirty="0">
                <a:latin typeface="HGS明朝E" panose="02020800000000000000" charset="-128"/>
                <a:ea typeface="HGS明朝E" panose="02020800000000000000" charset="-128"/>
                <a:cs typeface="HGS明朝E" panose="02020800000000000000" charset="-128"/>
              </a:rPr>
              <a:t>)</a:t>
            </a:r>
            <a:r>
              <a:rPr lang="ja-JP" altLang="en-US" sz="700" b="1" dirty="0">
                <a:latin typeface="HGS明朝E" panose="02020800000000000000" charset="-128"/>
                <a:ea typeface="HGS明朝E" panose="02020800000000000000" charset="-128"/>
                <a:cs typeface="HGS明朝E" panose="02020800000000000000" charset="-128"/>
              </a:rPr>
              <a:t>全日本不動産協会会員</a:t>
            </a:r>
          </a:p>
        </p:txBody>
      </p:sp>
      <p:sp>
        <p:nvSpPr>
          <p:cNvPr id="203" name="テキスト ボックス 202"/>
          <p:cNvSpPr txBox="1">
            <a:spLocks noChangeAspect="1"/>
          </p:cNvSpPr>
          <p:nvPr/>
        </p:nvSpPr>
        <p:spPr>
          <a:xfrm>
            <a:off x="2297239" y="6838619"/>
            <a:ext cx="1800000" cy="33840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kumimoji="1" lang="ja-JP" altLang="en-US" sz="1600" b="1" dirty="0">
                <a:solidFill>
                  <a:srgbClr val="FFFFFF"/>
                </a:solidFill>
                <a:latin typeface="HGS明朝E" panose="02020800000000000000" charset="-128"/>
                <a:ea typeface="HGS明朝E" panose="02020800000000000000" charset="-128"/>
                <a:cs typeface="HGS明朝E" panose="020B0A00000000000000" charset="-122"/>
              </a:rPr>
              <a:t>ラスターハウス</a:t>
            </a:r>
            <a:endParaRPr kumimoji="1" lang="ja-JP" altLang="en-US" sz="1600" b="1" dirty="0">
              <a:solidFill>
                <a:schemeClr val="bg2">
                  <a:lumMod val="25000"/>
                </a:schemeClr>
              </a:solidFill>
              <a:latin typeface="HGS明朝E" panose="02020800000000000000" charset="-128"/>
              <a:ea typeface="HGS明朝E" panose="02020800000000000000" charset="-128"/>
              <a:cs typeface="源ノ角ゴシック Heavy" panose="020B0A00000000000000" charset="-122"/>
            </a:endParaRPr>
          </a:p>
        </p:txBody>
      </p:sp>
      <p:pic>
        <p:nvPicPr>
          <p:cNvPr id="204" name="図形 203" descr="③-2 センチュリー21ロゴゴールド地白抜き【余白規定サイズ】改_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9600" y="6832800"/>
            <a:ext cx="1836000" cy="381600"/>
          </a:xfrm>
          <a:prstGeom prst="rect">
            <a:avLst/>
          </a:prstGeom>
        </p:spPr>
      </p:pic>
      <p:sp>
        <p:nvSpPr>
          <p:cNvPr id="229" name="四角形 228"/>
          <p:cNvSpPr>
            <a:spLocks noChangeAspect="1"/>
          </p:cNvSpPr>
          <p:nvPr/>
        </p:nvSpPr>
        <p:spPr>
          <a:xfrm>
            <a:off x="8486339" y="6831360"/>
            <a:ext cx="669595" cy="669595"/>
          </a:xfrm>
          <a:prstGeom prst="rect">
            <a:avLst/>
          </a:prstGeom>
          <a:noFill/>
          <a:ln>
            <a:solidFill>
              <a:schemeClr val="accent1"/>
            </a:solidFill>
            <a:prstDash val="sysDot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216" name="テキスト ボックス 215"/>
          <p:cNvSpPr txBox="1">
            <a:spLocks noChangeAspect="1"/>
          </p:cNvSpPr>
          <p:nvPr/>
        </p:nvSpPr>
        <p:spPr>
          <a:xfrm>
            <a:off x="120375" y="3830161"/>
            <a:ext cx="2746650" cy="172188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sz="900" b="1" dirty="0">
                <a:solidFill>
                  <a:srgbClr val="1E2328"/>
                </a:solidFill>
                <a:latin typeface="HGS明朝E" panose="02020800000000000000" charset="-128"/>
                <a:ea typeface="HGS明朝E" panose="02020800000000000000" charset="-128"/>
                <a:cs typeface="HGS明朝E" panose="02020800000000000000" charset="-128"/>
              </a:rPr>
              <a:t>{{POINT1}}</a:t>
            </a:r>
            <a:endParaRPr lang="en-US" sz="900" b="1" dirty="0">
              <a:solidFill>
                <a:srgbClr val="1E2328"/>
              </a:solidFill>
              <a:latin typeface="HGS明朝E" panose="02020800000000000000" charset="-128"/>
              <a:ea typeface="HGS明朝E" panose="02020800000000000000" charset="-128"/>
              <a:cs typeface="HGS明朝E" panose="02020800000000000000" charset="-128"/>
            </a:endParaRPr>
          </a:p>
          <a:p>
            <a:pPr>
              <a:lnSpc>
                <a:spcPct val="150000"/>
              </a:lnSpc>
            </a:pPr>
            <a:r>
              <a:rPr lang="en-US" altLang="ja-JP" sz="900" b="1" dirty="0">
                <a:solidFill>
                  <a:srgbClr val="1E2328"/>
                </a:solidFill>
                <a:latin typeface="HGS明朝E" panose="02020800000000000000" charset="-128"/>
                <a:ea typeface="HGS明朝E" panose="02020800000000000000" charset="-128"/>
                <a:cs typeface="HGS明朝E" panose="02020800000000000000" charset="-128"/>
              </a:rPr>
              <a:t>{{POINT2}}</a:t>
            </a:r>
          </a:p>
          <a:p>
            <a:pPr>
              <a:lnSpc>
                <a:spcPct val="150000"/>
              </a:lnSpc>
            </a:pPr>
            <a:r>
              <a:rPr lang="en-US" altLang="ja-JP" sz="900" b="1" dirty="0">
                <a:solidFill>
                  <a:srgbClr val="1E2328"/>
                </a:solidFill>
                <a:latin typeface="HGS明朝E" panose="02020800000000000000" charset="-128"/>
                <a:ea typeface="HGS明朝E" panose="02020800000000000000" charset="-128"/>
                <a:cs typeface="HGS明朝E" panose="02020800000000000000" charset="-128"/>
              </a:rPr>
              <a:t>{{POINT3}}</a:t>
            </a:r>
          </a:p>
          <a:p>
            <a:pPr>
              <a:lnSpc>
                <a:spcPct val="150000"/>
              </a:lnSpc>
            </a:pPr>
            <a:r>
              <a:rPr lang="en-US" altLang="ja-JP" sz="900" b="1" dirty="0">
                <a:solidFill>
                  <a:srgbClr val="1E2328"/>
                </a:solidFill>
                <a:latin typeface="HGS明朝E" panose="02020800000000000000" charset="-128"/>
                <a:ea typeface="HGS明朝E" panose="02020800000000000000" charset="-128"/>
                <a:cs typeface="HGS明朝E" panose="02020800000000000000" charset="-128"/>
              </a:rPr>
              <a:t>{{POINT4}}</a:t>
            </a:r>
          </a:p>
          <a:p>
            <a:pPr>
              <a:lnSpc>
                <a:spcPct val="150000"/>
              </a:lnSpc>
            </a:pPr>
            <a:r>
              <a:rPr lang="en-US" altLang="ja-JP" sz="900" b="1" dirty="0">
                <a:solidFill>
                  <a:srgbClr val="1E2328"/>
                </a:solidFill>
                <a:latin typeface="HGS明朝E" panose="02020800000000000000" charset="-128"/>
                <a:ea typeface="HGS明朝E" panose="02020800000000000000" charset="-128"/>
                <a:cs typeface="HGS明朝E" panose="02020800000000000000" charset="-128"/>
              </a:rPr>
              <a:t>{{POINT5}}</a:t>
            </a:r>
          </a:p>
          <a:p>
            <a:pPr>
              <a:lnSpc>
                <a:spcPct val="150000"/>
              </a:lnSpc>
            </a:pPr>
            <a:r>
              <a:rPr lang="en-US" altLang="ja-JP" sz="900" b="1" dirty="0">
                <a:solidFill>
                  <a:srgbClr val="1E2328"/>
                </a:solidFill>
                <a:latin typeface="HGS明朝E" panose="02020800000000000000" charset="-128"/>
                <a:ea typeface="HGS明朝E" panose="02020800000000000000" charset="-128"/>
                <a:cs typeface="HGS明朝E" panose="02020800000000000000" charset="-128"/>
              </a:rPr>
              <a:t>{{POINT6}}</a:t>
            </a:r>
          </a:p>
          <a:p>
            <a:pPr>
              <a:lnSpc>
                <a:spcPct val="150000"/>
              </a:lnSpc>
            </a:pPr>
            <a:r>
              <a:rPr lang="en-US" altLang="ja-JP" sz="900" b="1" dirty="0">
                <a:solidFill>
                  <a:srgbClr val="1E2328"/>
                </a:solidFill>
                <a:latin typeface="HGS明朝E" panose="02020800000000000000" charset="-128"/>
                <a:ea typeface="HGS明朝E" panose="02020800000000000000" charset="-128"/>
                <a:cs typeface="HGS明朝E" panose="02020800000000000000" charset="-128"/>
              </a:rPr>
              <a:t>{{POINT7}}</a:t>
            </a:r>
            <a:endParaRPr lang="en-US" altLang="ja-JP" sz="900" b="1" dirty="0">
              <a:solidFill>
                <a:srgbClr val="1E2328"/>
              </a:solidFill>
              <a:latin typeface="HGS明朝E" panose="02020800000000000000" charset="-128"/>
              <a:ea typeface="HGS明朝E" panose="02020800000000000000" charset="-128"/>
              <a:cs typeface="HGS明朝E" panose="02020800000000000000" charset="-128"/>
            </a:endParaRPr>
          </a:p>
          <a:p>
            <a:pPr>
              <a:lnSpc>
                <a:spcPct val="150000"/>
              </a:lnSpc>
            </a:pPr>
            <a:r>
              <a:rPr lang="en-US" altLang="ja-JP" sz="900" b="1" dirty="0">
                <a:solidFill>
                  <a:srgbClr val="1E2328"/>
                </a:solidFill>
                <a:latin typeface="HGS明朝E" panose="02020800000000000000" charset="-128"/>
                <a:ea typeface="HGS明朝E" panose="02020800000000000000" charset="-128"/>
                <a:cs typeface="HGS明朝E" panose="02020800000000000000" charset="-128"/>
              </a:rPr>
              <a:t>{{POINT8}}</a:t>
            </a:r>
          </a:p>
        </p:txBody>
      </p:sp>
      <p:pic>
        <p:nvPicPr>
          <p:cNvPr id="119" name="図形 11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000" y="5526000"/>
            <a:ext cx="1800000" cy="1170000"/>
          </a:xfrm>
          <a:prstGeom prst="rect">
            <a:avLst/>
          </a:prstGeom>
          <a:effectLst>
            <a:softEdge rad="36000"/>
          </a:effectLst>
        </p:spPr>
      </p:pic>
      <p:pic>
        <p:nvPicPr>
          <p:cNvPr id="124" name="図形 12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44000" y="5526000"/>
            <a:ext cx="1800000" cy="1170000"/>
          </a:xfrm>
          <a:prstGeom prst="rect">
            <a:avLst/>
          </a:prstGeom>
          <a:effectLst>
            <a:softEdge rad="36000"/>
          </a:effectLst>
        </p:spPr>
      </p:pic>
      <p:pic>
        <p:nvPicPr>
          <p:cNvPr id="128" name="図形 12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80000" y="5526000"/>
            <a:ext cx="1872000" cy="1170000"/>
          </a:xfrm>
          <a:prstGeom prst="rect">
            <a:avLst/>
          </a:prstGeom>
          <a:effectLst>
            <a:softEdge rad="36000"/>
          </a:effectLst>
        </p:spPr>
      </p:pic>
      <p:sp>
        <p:nvSpPr>
          <p:cNvPr id="85" name="Text 50"/>
          <p:cNvSpPr>
            <a:spLocks noChangeAspect="1"/>
          </p:cNvSpPr>
          <p:nvPr/>
        </p:nvSpPr>
        <p:spPr>
          <a:xfrm>
            <a:off x="156303" y="3364199"/>
            <a:ext cx="864000" cy="198000"/>
          </a:xfrm>
          <a:prstGeom prst="rect">
            <a:avLst/>
          </a:prstGeom>
          <a:solidFill>
            <a:srgbClr val="BEAF87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900" b="1" kern="0" spc="300" dirty="0">
                <a:solidFill>
                  <a:srgbClr val="1E2328"/>
                </a:solidFill>
                <a:latin typeface="HGS明朝E" panose="02020800000000000000" charset="-128"/>
                <a:ea typeface="HGS明朝E" panose="02020800000000000000" charset="-128"/>
                <a:cs typeface="HGS明朝E" panose="02040502050405020303" pitchFamily="34" charset="-120"/>
              </a:rPr>
              <a:t>{{CAP_MAIN}}</a:t>
            </a:r>
            <a:endParaRPr lang="ja-JP" altLang="en-US" sz="1000" b="1" kern="0" spc="300" dirty="0">
              <a:solidFill>
                <a:schemeClr val="bg1"/>
              </a:solidFill>
              <a:latin typeface="HGS明朝E" panose="02020800000000000000" charset="-128"/>
              <a:ea typeface="HGS明朝E" panose="02020800000000000000" charset="-128"/>
              <a:cs typeface="Georgia" panose="02040502050405020303" pitchFamily="34" charset="-120"/>
            </a:endParaRPr>
          </a:p>
        </p:txBody>
      </p:sp>
      <p:pic>
        <p:nvPicPr>
          <p:cNvPr id="120" name="図形 11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908000" y="5526000"/>
            <a:ext cx="1800000" cy="1170000"/>
          </a:xfrm>
          <a:prstGeom prst="rect">
            <a:avLst/>
          </a:prstGeom>
          <a:effectLst>
            <a:softEdge rad="36000"/>
          </a:effectLst>
        </p:spPr>
      </p:pic>
      <p:sp>
        <p:nvSpPr>
          <p:cNvPr id="267" name="Text 50"/>
          <p:cNvSpPr>
            <a:spLocks noChangeAspect="1"/>
          </p:cNvSpPr>
          <p:nvPr/>
        </p:nvSpPr>
        <p:spPr>
          <a:xfrm>
            <a:off x="90000" y="6480000"/>
            <a:ext cx="792000" cy="187200"/>
          </a:xfrm>
          <a:prstGeom prst="rect">
            <a:avLst/>
          </a:prstGeom>
          <a:solidFill>
            <a:srgbClr val="BEAF87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900" b="1" kern="0" spc="300" dirty="0">
                <a:solidFill>
                  <a:srgbClr val="1E2328"/>
                </a:solidFill>
                <a:latin typeface="HGS明朝E" panose="02020800000000000000" charset="-128"/>
                <a:ea typeface="HGS明朝E" panose="02020800000000000000" charset="-128"/>
                <a:cs typeface="HGS明朝E" panose="02040502050405020303" pitchFamily="34" charset="-120"/>
              </a:rPr>
              <a:t>{{CAP3}}</a:t>
            </a:r>
            <a:endParaRPr lang="ja-JP" altLang="en-US" sz="700" b="1" kern="0" spc="300" dirty="0">
              <a:solidFill>
                <a:schemeClr val="bg1"/>
              </a:solidFill>
              <a:latin typeface="HGS明朝E" panose="02020800000000000000" charset="-128"/>
              <a:ea typeface="HGS明朝E" panose="02020800000000000000" charset="-128"/>
              <a:cs typeface="Georgia" panose="02040502050405020303" pitchFamily="34" charset="-120"/>
            </a:endParaRPr>
          </a:p>
        </p:txBody>
      </p:sp>
      <p:sp>
        <p:nvSpPr>
          <p:cNvPr id="268" name="Text 50"/>
          <p:cNvSpPr>
            <a:spLocks noChangeAspect="1"/>
          </p:cNvSpPr>
          <p:nvPr/>
        </p:nvSpPr>
        <p:spPr>
          <a:xfrm>
            <a:off x="1926000" y="6480000"/>
            <a:ext cx="792000" cy="187200"/>
          </a:xfrm>
          <a:prstGeom prst="rect">
            <a:avLst/>
          </a:prstGeom>
          <a:solidFill>
            <a:srgbClr val="BEAF87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900" b="1" kern="0" spc="300" dirty="0">
                <a:solidFill>
                  <a:srgbClr val="1E2328"/>
                </a:solidFill>
                <a:latin typeface="HGS明朝E" panose="02020800000000000000" charset="-128"/>
                <a:ea typeface="HGS明朝E" panose="02020800000000000000" charset="-128"/>
                <a:cs typeface="HGS明朝E" panose="02040502050405020303" pitchFamily="34" charset="-120"/>
              </a:rPr>
              <a:t>{{CAP4}}</a:t>
            </a:r>
            <a:endParaRPr lang="ja-JP" altLang="en-US" sz="500" b="1" kern="0" spc="300" dirty="0">
              <a:solidFill>
                <a:schemeClr val="bg1"/>
              </a:solidFill>
              <a:latin typeface="HGS明朝E" panose="02020800000000000000" charset="-128"/>
              <a:ea typeface="HGS明朝E" panose="02020800000000000000" charset="-128"/>
              <a:cs typeface="Georgia" panose="02040502050405020303" pitchFamily="34" charset="-120"/>
            </a:endParaRPr>
          </a:p>
        </p:txBody>
      </p:sp>
      <p:sp>
        <p:nvSpPr>
          <p:cNvPr id="269" name="Text 50"/>
          <p:cNvSpPr>
            <a:spLocks noChangeAspect="1"/>
          </p:cNvSpPr>
          <p:nvPr/>
        </p:nvSpPr>
        <p:spPr>
          <a:xfrm>
            <a:off x="3762000" y="6480000"/>
            <a:ext cx="792000" cy="187200"/>
          </a:xfrm>
          <a:prstGeom prst="rect">
            <a:avLst/>
          </a:prstGeom>
          <a:solidFill>
            <a:srgbClr val="BEAF87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900" b="1" kern="0" spc="300" dirty="0">
                <a:solidFill>
                  <a:srgbClr val="1E2328"/>
                </a:solidFill>
                <a:latin typeface="HGS明朝E" panose="02020800000000000000" charset="-128"/>
                <a:ea typeface="HGS明朝E" panose="02020800000000000000" charset="-128"/>
                <a:cs typeface="HGS明朝E" panose="02040502050405020303" pitchFamily="34" charset="-120"/>
              </a:rPr>
              <a:t>{{CAP5}}</a:t>
            </a:r>
            <a:endParaRPr lang="ja-JP" altLang="en-US" sz="500" b="1" kern="0" spc="300" dirty="0">
              <a:solidFill>
                <a:schemeClr val="bg1"/>
              </a:solidFill>
              <a:latin typeface="HGS明朝E" panose="02020800000000000000" charset="-128"/>
              <a:ea typeface="HGS明朝E" panose="02020800000000000000" charset="-128"/>
              <a:cs typeface="Georgia" panose="02040502050405020303" pitchFamily="34" charset="-120"/>
            </a:endParaRPr>
          </a:p>
        </p:txBody>
      </p:sp>
      <p:sp>
        <p:nvSpPr>
          <p:cNvPr id="272" name="Text 50"/>
          <p:cNvSpPr>
            <a:spLocks noChangeAspect="1"/>
          </p:cNvSpPr>
          <p:nvPr/>
        </p:nvSpPr>
        <p:spPr>
          <a:xfrm>
            <a:off x="5598000" y="6480000"/>
            <a:ext cx="792000" cy="187200"/>
          </a:xfrm>
          <a:prstGeom prst="rect">
            <a:avLst/>
          </a:prstGeom>
          <a:solidFill>
            <a:srgbClr val="BEAF87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900" b="1" kern="0" spc="300" dirty="0">
                <a:solidFill>
                  <a:srgbClr val="1E2328"/>
                </a:solidFill>
                <a:latin typeface="HGS明朝E" panose="02020800000000000000" charset="-128"/>
                <a:ea typeface="HGS明朝E" panose="02020800000000000000" charset="-128"/>
                <a:cs typeface="HGS明朝E" panose="02040502050405020303" pitchFamily="34" charset="-120"/>
              </a:rPr>
              <a:t>{{CAP6}}</a:t>
            </a:r>
            <a:endParaRPr lang="ja-JP" altLang="en-US" sz="500" b="1" kern="0" spc="300" dirty="0">
              <a:solidFill>
                <a:schemeClr val="bg1"/>
              </a:solidFill>
              <a:latin typeface="HGS明朝E" panose="02020800000000000000" charset="-128"/>
              <a:ea typeface="HGS明朝E" panose="02020800000000000000" charset="-128"/>
              <a:cs typeface="Georgia" panose="02040502050405020303" pitchFamily="34" charset="-120"/>
            </a:endParaRPr>
          </a:p>
        </p:txBody>
      </p:sp>
      <p:sp>
        <p:nvSpPr>
          <p:cNvPr id="273" name="Rectangle 272"/>
          <p:cNvSpPr/>
          <p:nvPr/>
        </p:nvSpPr>
        <p:spPr>
          <a:xfrm>
            <a:off x="0" y="0"/>
            <a:ext cx="10688400" cy="64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8C6E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4" name="Rectangle 273"/>
          <p:cNvSpPr/>
          <p:nvPr/>
        </p:nvSpPr>
        <p:spPr>
          <a:xfrm>
            <a:off x="0" y="0"/>
            <a:ext cx="3960000" cy="648000"/>
          </a:xfrm>
          <a:prstGeom prst="rect">
            <a:avLst/>
          </a:prstGeom>
          <a:noFill/>
          <a:ln w="9525">
            <a:solidFill>
              <a:srgbClr val="8C6E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5" name="Rectangle 274"/>
          <p:cNvSpPr/>
          <p:nvPr/>
        </p:nvSpPr>
        <p:spPr>
          <a:xfrm>
            <a:off x="-7403" y="0"/>
            <a:ext cx="475403" cy="648000"/>
          </a:xfrm>
          <a:prstGeom prst="rect">
            <a:avLst/>
          </a:prstGeom>
          <a:solidFill>
            <a:srgbClr val="BEAF87"/>
          </a:solidFill>
          <a:ln w="9525">
            <a:solidFill>
              <a:srgbClr val="8C6E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6" name="TextBox 275"/>
          <p:cNvSpPr txBox="1"/>
          <p:nvPr/>
        </p:nvSpPr>
        <p:spPr>
          <a:xfrm>
            <a:off x="168085" y="28584"/>
            <a:ext cx="115416" cy="590616"/>
          </a:xfrm>
          <a:prstGeom prst="rect">
            <a:avLst/>
          </a:prstGeom>
          <a:noFill/>
        </p:spPr>
        <p:txBody>
          <a:bodyPr vert="eaVert"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ja-JP" altLang="en-US" sz="750" b="1" dirty="0">
                <a:solidFill>
                  <a:schemeClr val="bg1"/>
                </a:solidFill>
                <a:latin typeface="HGS明朝E"/>
                <a:ea typeface="HGS明朝E"/>
                <a:cs typeface="HGS明朝E"/>
              </a:rPr>
              <a:t>土　地</a:t>
            </a:r>
            <a:endParaRPr sz="750" b="1" dirty="0">
              <a:solidFill>
                <a:schemeClr val="bg1"/>
              </a:solidFill>
              <a:latin typeface="HGS明朝E"/>
              <a:ea typeface="HGS明朝E"/>
              <a:cs typeface="HGS明朝E"/>
            </a:endParaRPr>
          </a:p>
        </p:txBody>
      </p:sp>
      <p:sp>
        <p:nvSpPr>
          <p:cNvPr id="277" name="TextBox 276"/>
          <p:cNvSpPr txBox="1"/>
          <p:nvPr/>
        </p:nvSpPr>
        <p:spPr>
          <a:xfrm>
            <a:off x="540000" y="185501"/>
            <a:ext cx="334800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1" dirty="0" err="1">
                <a:solidFill>
                  <a:srgbClr val="1E2328"/>
                </a:solidFill>
                <a:latin typeface="HGS明朝E"/>
                <a:ea typeface="HGS明朝E"/>
                <a:cs typeface="HGS明朝E"/>
              </a:rPr>
              <a:t>{{BUILDING}}　{{FLOOR_SHORT}}</a:t>
            </a:r>
            <a:endParaRPr b="1" dirty="0">
              <a:solidFill>
                <a:srgbClr val="1E2328"/>
              </a:solidFill>
              <a:latin typeface="HGS明朝E"/>
              <a:ea typeface="HGS明朝E"/>
              <a:cs typeface="HGS明朝E"/>
            </a:endParaRPr>
          </a:p>
        </p:txBody>
      </p:sp>
      <p:sp>
        <p:nvSpPr>
          <p:cNvPr id="278" name="Rectangle 277"/>
          <p:cNvSpPr/>
          <p:nvPr/>
        </p:nvSpPr>
        <p:spPr>
          <a:xfrm>
            <a:off x="3960000" y="0"/>
            <a:ext cx="3240000" cy="648000"/>
          </a:xfrm>
          <a:prstGeom prst="rect">
            <a:avLst/>
          </a:prstGeom>
          <a:noFill/>
          <a:ln w="9525">
            <a:solidFill>
              <a:srgbClr val="8C6E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9" name="Rectangle 278"/>
          <p:cNvSpPr/>
          <p:nvPr/>
        </p:nvSpPr>
        <p:spPr>
          <a:xfrm>
            <a:off x="3960000" y="0"/>
            <a:ext cx="468000" cy="648000"/>
          </a:xfrm>
          <a:prstGeom prst="rect">
            <a:avLst/>
          </a:prstGeom>
          <a:solidFill>
            <a:srgbClr val="BEAF87"/>
          </a:solidFill>
          <a:ln w="9525">
            <a:solidFill>
              <a:srgbClr val="8C6E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0" name="TextBox 279"/>
          <p:cNvSpPr txBox="1"/>
          <p:nvPr/>
        </p:nvSpPr>
        <p:spPr>
          <a:xfrm>
            <a:off x="4128597" y="1669"/>
            <a:ext cx="130805" cy="646331"/>
          </a:xfrm>
          <a:prstGeom prst="rect">
            <a:avLst/>
          </a:prstGeom>
          <a:noFill/>
        </p:spPr>
        <p:txBody>
          <a:bodyPr vert="eaVert"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ja-JP" altLang="en-US" sz="850" b="1" dirty="0">
                <a:solidFill>
                  <a:schemeClr val="bg1"/>
                </a:solidFill>
                <a:latin typeface="HGS明朝E"/>
                <a:ea typeface="HGS明朝E"/>
                <a:cs typeface="HGS明朝E"/>
              </a:rPr>
              <a:t>アクセス</a:t>
            </a:r>
            <a:endParaRPr sz="850" b="1" dirty="0">
              <a:solidFill>
                <a:schemeClr val="bg1"/>
              </a:solidFill>
              <a:latin typeface="HGS明朝E"/>
              <a:ea typeface="HGS明朝E"/>
              <a:cs typeface="HGS明朝E"/>
            </a:endParaRPr>
          </a:p>
        </p:txBody>
      </p:sp>
      <p:sp>
        <p:nvSpPr>
          <p:cNvPr id="281" name="TextBox 280"/>
          <p:cNvSpPr txBox="1"/>
          <p:nvPr/>
        </p:nvSpPr>
        <p:spPr>
          <a:xfrm>
            <a:off x="4536000" y="58543"/>
            <a:ext cx="2628000" cy="4847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1" dirty="0" err="1">
                <a:solidFill>
                  <a:srgbClr val="1E2328"/>
                </a:solidFill>
                <a:latin typeface="HGS明朝E"/>
                <a:ea typeface="HGS明朝E"/>
                <a:cs typeface="HGS明朝E"/>
              </a:rPr>
              <a:t>{{LINE1}}　「{{STATION1}}」　　徒歩{{WALK1}}分</a:t>
            </a:r>
            <a:endParaRPr lang="en-US" sz="1050" b="1" dirty="0">
              <a:solidFill>
                <a:srgbClr val="1E2328"/>
              </a:solidFill>
              <a:latin typeface="HGS明朝E"/>
              <a:ea typeface="HGS明朝E"/>
              <a:cs typeface="HGS明朝E"/>
            </a:endParaRPr>
          </a:p>
          <a:p>
            <a:r>
              <a:rPr lang="zh-TW" altLang="en-US" sz="1050" b="1" dirty="0">
                <a:solidFill>
                  <a:srgbClr val="1E2328"/>
                </a:solidFill>
                <a:latin typeface="HGS明朝E"/>
                <a:ea typeface="HGS明朝E"/>
                <a:cs typeface="HGS明朝E"/>
              </a:rPr>
              <a:t>{{LINE2}}　　　「{{STATION2}}」　徒歩{{WALK2}}分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ja-JP" altLang="en-US" sz="1050" b="1" dirty="0">
                <a:solidFill>
                  <a:srgbClr val="1E2328"/>
                </a:solidFill>
                <a:latin typeface="HGS明朝E"/>
                <a:ea typeface="HGS明朝E"/>
                <a:cs typeface="HGS明朝E"/>
              </a:rPr>
              <a:t>{{LINE3}}　　　「{{STATION3}}」　徒歩{{WALK3}}分</a:t>
            </a:r>
            <a:endParaRPr sz="1050" b="1" dirty="0">
              <a:solidFill>
                <a:srgbClr val="1E2328"/>
              </a:solidFill>
              <a:latin typeface="HGS明朝E"/>
              <a:ea typeface="HGS明朝E"/>
              <a:cs typeface="HGS明朝E"/>
            </a:endParaRPr>
          </a:p>
        </p:txBody>
      </p:sp>
      <p:sp>
        <p:nvSpPr>
          <p:cNvPr id="284" name="Rectangle 283"/>
          <p:cNvSpPr/>
          <p:nvPr/>
        </p:nvSpPr>
        <p:spPr>
          <a:xfrm>
            <a:off x="7200000" y="0"/>
            <a:ext cx="3488400" cy="648000"/>
          </a:xfrm>
          <a:prstGeom prst="rect">
            <a:avLst/>
          </a:prstGeom>
          <a:noFill/>
          <a:ln w="9525">
            <a:solidFill>
              <a:srgbClr val="8C6E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5" name="Rectangle 284"/>
          <p:cNvSpPr/>
          <p:nvPr/>
        </p:nvSpPr>
        <p:spPr>
          <a:xfrm>
            <a:off x="7200000" y="0"/>
            <a:ext cx="468000" cy="648000"/>
          </a:xfrm>
          <a:prstGeom prst="rect">
            <a:avLst/>
          </a:prstGeom>
          <a:solidFill>
            <a:srgbClr val="BEAF87"/>
          </a:solidFill>
          <a:ln w="9525">
            <a:solidFill>
              <a:srgbClr val="8C6E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6" name="TextBox 285"/>
          <p:cNvSpPr txBox="1"/>
          <p:nvPr/>
        </p:nvSpPr>
        <p:spPr>
          <a:xfrm>
            <a:off x="7310891" y="0"/>
            <a:ext cx="246221" cy="648000"/>
          </a:xfrm>
          <a:prstGeom prst="rect">
            <a:avLst/>
          </a:prstGeom>
          <a:noFill/>
        </p:spPr>
        <p:txBody>
          <a:bodyPr vert="eaVert"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dirty="0" err="1">
                <a:solidFill>
                  <a:schemeClr val="bg1"/>
                </a:solidFill>
                <a:latin typeface="HGS明朝E"/>
                <a:ea typeface="HGS明朝E"/>
                <a:cs typeface="HGS明朝E"/>
              </a:rPr>
              <a:t>価格</a:t>
            </a:r>
            <a:endParaRPr sz="1600" b="1" dirty="0">
              <a:solidFill>
                <a:schemeClr val="bg1"/>
              </a:solidFill>
              <a:latin typeface="HGS明朝E"/>
              <a:ea typeface="HGS明朝E"/>
              <a:cs typeface="HGS明朝E"/>
            </a:endParaRPr>
          </a:p>
        </p:txBody>
      </p:sp>
      <p:sp>
        <p:nvSpPr>
          <p:cNvPr id="287" name="TextBox 286"/>
          <p:cNvSpPr txBox="1"/>
          <p:nvPr/>
        </p:nvSpPr>
        <p:spPr>
          <a:xfrm>
            <a:off x="8080341" y="47002"/>
            <a:ext cx="2199321" cy="55399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3600" b="1" dirty="0">
                <a:solidFill>
                  <a:srgbClr val="1E2328"/>
                </a:solidFill>
                <a:latin typeface="HGS明朝E"/>
                <a:ea typeface="HGS明朝E"/>
                <a:cs typeface="HGS明朝E"/>
              </a:rPr>
              <a:t>{{PRICE}}</a:t>
            </a:r>
            <a:r>
              <a:rPr b="1" dirty="0">
                <a:solidFill>
                  <a:srgbClr val="1E2328"/>
                </a:solidFill>
                <a:latin typeface="HGS明朝E"/>
                <a:ea typeface="HGS明朝E"/>
                <a:cs typeface="HGS明朝E"/>
              </a:rPr>
              <a:t>万円</a:t>
            </a:r>
            <a:r>
              <a:rPr sz="1000" b="1" dirty="0">
                <a:solidFill>
                  <a:srgbClr val="1E2328"/>
                </a:solidFill>
                <a:latin typeface="HGS明朝E"/>
                <a:ea typeface="HGS明朝E"/>
                <a:cs typeface="HGS明朝E"/>
              </a:rPr>
              <a:t>（非課税）</a:t>
            </a:r>
          </a:p>
        </p:txBody>
      </p:sp>
      <p:sp>
        <p:nvSpPr>
          <p:cNvPr id="292" name="Rectangle 291"/>
          <p:cNvSpPr/>
          <p:nvPr/>
        </p:nvSpPr>
        <p:spPr>
          <a:xfrm>
            <a:off x="120374" y="3651868"/>
            <a:ext cx="3641625" cy="215754"/>
          </a:xfrm>
          <a:prstGeom prst="rect">
            <a:avLst/>
          </a:prstGeom>
          <a:gradFill flip="none" rotWithShape="1">
            <a:gsLst>
              <a:gs pos="47000">
                <a:srgbClr val="E8D9B5"/>
              </a:gs>
              <a:gs pos="100000">
                <a:schemeClr val="bg1"/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ja-JP" sz="1200" b="1" dirty="0">
                <a:solidFill>
                  <a:schemeClr val="tx1"/>
                </a:solidFill>
                <a:latin typeface="HGS明朝E" panose="02020900000000000000" pitchFamily="18" charset="-128"/>
                <a:ea typeface="HGS明朝E" panose="02020900000000000000" pitchFamily="18" charset="-128"/>
              </a:rPr>
              <a:t>POINT</a:t>
            </a:r>
            <a:endParaRPr sz="1200" b="1" dirty="0">
              <a:solidFill>
                <a:schemeClr val="tx1"/>
              </a:solidFill>
              <a:latin typeface="HGS明朝E" panose="02020900000000000000" pitchFamily="18" charset="-128"/>
              <a:ea typeface="HGS明朝E" panose="02020900000000000000" pitchFamily="18" charset="-128"/>
            </a:endParaRPr>
          </a:p>
        </p:txBody>
      </p:sp>
      <p:sp>
        <p:nvSpPr>
          <p:cNvPr id="305" name="Rectangle 304"/>
          <p:cNvSpPr/>
          <p:nvPr/>
        </p:nvSpPr>
        <p:spPr>
          <a:xfrm>
            <a:off x="7578000" y="694800"/>
            <a:ext cx="3024000" cy="187200"/>
          </a:xfrm>
          <a:prstGeom prst="rect">
            <a:avLst/>
          </a:prstGeom>
          <a:solidFill>
            <a:srgbClr val="BEAF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ja-JP" altLang="en-US" sz="1200" dirty="0">
                <a:latin typeface="HGS明朝E" panose="02020900000000000000" pitchFamily="18" charset="-128"/>
                <a:ea typeface="HGS明朝E" panose="02020900000000000000" pitchFamily="18" charset="-128"/>
              </a:rPr>
              <a:t>物件概要</a:t>
            </a:r>
            <a:endParaRPr sz="1200" dirty="0">
              <a:latin typeface="HGS明朝E" panose="02020900000000000000" pitchFamily="18" charset="-128"/>
              <a:ea typeface="HGS明朝E" panose="02020900000000000000" pitchFamily="18" charset="-128"/>
            </a:endParaRPr>
          </a:p>
        </p:txBody>
      </p:sp>
      <p:graphicFrame>
        <p:nvGraphicFramePr>
          <p:cNvPr id="307" name="Table 30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7182115"/>
              </p:ext>
            </p:extLst>
          </p:nvPr>
        </p:nvGraphicFramePr>
        <p:xfrm>
          <a:off x="7578000" y="892800"/>
          <a:ext cx="3024000" cy="37674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82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38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1E2328"/>
                          </a:solidFill>
                          <a:latin typeface="HGS明朝E"/>
                          <a:ea typeface="HGS明朝E"/>
                          <a:cs typeface="HGS明朝E"/>
                        </a:rPr>
                        <a:t>所 在 地</a:t>
                      </a:r>
                    </a:p>
                  </a:txBody>
                  <a:tcPr marL="27940" marR="19050" marT="5080" marB="5080" anchor="ctr">
                    <a:solidFill>
                      <a:srgbClr val="F4F0E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E2328"/>
                          </a:solidFill>
                          <a:latin typeface="HGS明朝E"/>
                          <a:ea typeface="HGS明朝E"/>
                          <a:cs typeface="HGS明朝E"/>
                        </a:rPr>
                        <a:t>{{ADDRESS}}</a:t>
                      </a:r>
                    </a:p>
                  </a:txBody>
                  <a:tcPr marL="27940" marR="19050" marT="5080" marB="508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38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1E2328"/>
                          </a:solidFill>
                          <a:latin typeface="HGS明朝E"/>
                          <a:ea typeface="HGS明朝E"/>
                          <a:cs typeface="HGS明朝E"/>
                        </a:rPr>
                        <a:t>権　利</a:t>
                      </a:r>
                    </a:p>
                  </a:txBody>
                  <a:tcPr marL="27940" marR="19050" marT="5080" marB="5080" anchor="ctr">
                    <a:solidFill>
                      <a:srgbClr val="F4F0E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E2328"/>
                          </a:solidFill>
                          <a:latin typeface="HGS明朝E"/>
                          <a:ea typeface="HGS明朝E"/>
                          <a:cs typeface="HGS明朝E"/>
                        </a:rPr>
                        <a:t>{{RIGHT}}</a:t>
                      </a:r>
                    </a:p>
                  </a:txBody>
                  <a:tcPr marL="27940" marR="19050" marT="5080" marB="508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38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1E2328"/>
                          </a:solidFill>
                          <a:latin typeface="HGS明朝E"/>
                          <a:ea typeface="HGS明朝E"/>
                          <a:cs typeface="HGS明朝E"/>
                        </a:rPr>
                        <a:t>土地面積</a:t>
                      </a:r>
                    </a:p>
                  </a:txBody>
                  <a:tcPr marL="27940" marR="19050" marT="5080" marB="5080" anchor="ctr">
                    <a:solidFill>
                      <a:srgbClr val="F4F0E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E2328"/>
                          </a:solidFill>
                          <a:latin typeface="HGS明朝E"/>
                          <a:ea typeface="HGS明朝E"/>
                          <a:cs typeface="HGS明朝E"/>
                        </a:rPr>
                        <a:t>{{LAND_AREA}}</a:t>
                      </a:r>
                    </a:p>
                  </a:txBody>
                  <a:tcPr marL="27940" marR="19050" marT="5080" marB="508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38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1E2328"/>
                          </a:solidFill>
                          <a:latin typeface="HGS明朝E"/>
                          <a:ea typeface="HGS明朝E"/>
                          <a:cs typeface="HGS明朝E"/>
                        </a:rPr>
                        <a:t>坪 単 価</a:t>
                      </a:r>
                    </a:p>
                  </a:txBody>
                  <a:tcPr marL="27940" marR="19050" marT="5080" marB="5080" anchor="ctr">
                    <a:solidFill>
                      <a:srgbClr val="F4F0E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E2328"/>
                          </a:solidFill>
                          <a:latin typeface="HGS明朝E"/>
                          <a:ea typeface="HGS明朝E"/>
                          <a:cs typeface="HGS明朝E"/>
                        </a:rPr>
                        <a:t>{{TSUBO_PRICE}}</a:t>
                      </a:r>
                    </a:p>
                  </a:txBody>
                  <a:tcPr marL="27940" marR="19050" marT="5080" marB="508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38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1E2328"/>
                          </a:solidFill>
                          <a:latin typeface="HGS明朝E"/>
                          <a:ea typeface="HGS明朝E"/>
                          <a:cs typeface="HGS明朝E"/>
                        </a:rPr>
                        <a:t>地　目</a:t>
                      </a:r>
                    </a:p>
                  </a:txBody>
                  <a:tcPr marL="27940" marR="19050" marT="5080" marB="5080" anchor="ctr">
                    <a:solidFill>
                      <a:srgbClr val="F4F0E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E2328"/>
                          </a:solidFill>
                          <a:latin typeface="HGS明朝E"/>
                          <a:ea typeface="HGS明朝E"/>
                          <a:cs typeface="HGS明朝E"/>
                        </a:rPr>
                        <a:t>{{CHIMOKU}}</a:t>
                      </a:r>
                    </a:p>
                  </a:txBody>
                  <a:tcPr marL="27940" marR="19050" marT="5080" marB="508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38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1E2328"/>
                          </a:solidFill>
                          <a:latin typeface="HGS明朝E"/>
                          <a:ea typeface="HGS明朝E"/>
                          <a:cs typeface="HGS明朝E"/>
                        </a:rPr>
                        <a:t>地　勢</a:t>
                      </a:r>
                    </a:p>
                  </a:txBody>
                  <a:tcPr marL="27940" marR="19050" marT="5080" marB="5080" anchor="ctr">
                    <a:solidFill>
                      <a:srgbClr val="F4F0E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E2328"/>
                          </a:solidFill>
                          <a:latin typeface="HGS明朝E"/>
                          <a:ea typeface="HGS明朝E"/>
                          <a:cs typeface="HGS明朝E"/>
                        </a:rPr>
                        <a:t>{{TOPOGRAPHY}}</a:t>
                      </a:r>
                    </a:p>
                  </a:txBody>
                  <a:tcPr marL="27940" marR="19050" marT="5080" marB="508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638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1E2328"/>
                          </a:solidFill>
                          <a:latin typeface="HGS明朝E"/>
                          <a:ea typeface="HGS明朝E"/>
                          <a:cs typeface="HGS明朝E"/>
                        </a:rPr>
                        <a:t>用途地域</a:t>
                      </a:r>
                    </a:p>
                  </a:txBody>
                  <a:tcPr marL="27940" marR="19050" marT="5080" marB="5080" anchor="ctr">
                    <a:solidFill>
                      <a:srgbClr val="F4F0E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E2328"/>
                          </a:solidFill>
                          <a:latin typeface="HGS明朝E"/>
                          <a:ea typeface="HGS明朝E"/>
                          <a:cs typeface="HGS明朝E"/>
                        </a:rPr>
                        <a:t>{{ZONING}}</a:t>
                      </a:r>
                    </a:p>
                  </a:txBody>
                  <a:tcPr marL="27940" marR="19050" marT="5080" marB="508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638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1E2328"/>
                          </a:solidFill>
                          <a:latin typeface="HGS明朝E"/>
                          <a:ea typeface="HGS明朝E"/>
                          <a:cs typeface="HGS明朝E"/>
                        </a:rPr>
                        <a:t>建ぺい率</a:t>
                      </a:r>
                    </a:p>
                  </a:txBody>
                  <a:tcPr marL="27940" marR="19050" marT="5080" marB="5080" anchor="ctr">
                    <a:solidFill>
                      <a:srgbClr val="F4F0E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E2328"/>
                          </a:solidFill>
                          <a:latin typeface="HGS明朝E"/>
                          <a:ea typeface="HGS明朝E"/>
                          <a:cs typeface="HGS明朝E"/>
                        </a:rPr>
                        <a:t>{{BUILDING_RATIO}}</a:t>
                      </a:r>
                    </a:p>
                  </a:txBody>
                  <a:tcPr marL="27940" marR="19050" marT="5080" marB="508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638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1E2328"/>
                          </a:solidFill>
                          <a:latin typeface="HGS明朝E"/>
                          <a:ea typeface="HGS明朝E"/>
                          <a:cs typeface="HGS明朝E"/>
                        </a:rPr>
                        <a:t>容 積 率</a:t>
                      </a:r>
                    </a:p>
                  </a:txBody>
                  <a:tcPr marL="27940" marR="19050" marT="5080" marB="5080" anchor="ctr">
                    <a:solidFill>
                      <a:srgbClr val="F4F0E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E2328"/>
                          </a:solidFill>
                          <a:latin typeface="HGS明朝E"/>
                          <a:ea typeface="HGS明朝E"/>
                          <a:cs typeface="HGS明朝E"/>
                        </a:rPr>
                        <a:t>{{FLOOR_RATIO}}</a:t>
                      </a:r>
                    </a:p>
                  </a:txBody>
                  <a:tcPr marL="27940" marR="19050" marT="5080" marB="508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638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1E2328"/>
                          </a:solidFill>
                          <a:latin typeface="HGS明朝E"/>
                          <a:ea typeface="HGS明朝E"/>
                          <a:cs typeface="HGS明朝E"/>
                        </a:rPr>
                        <a:t>防火指定</a:t>
                      </a:r>
                    </a:p>
                  </a:txBody>
                  <a:tcPr marL="27940" marR="19050" marT="5080" marB="5080" anchor="ctr">
                    <a:solidFill>
                      <a:srgbClr val="F4F0E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E2328"/>
                          </a:solidFill>
                          <a:latin typeface="HGS明朝E"/>
                          <a:ea typeface="HGS明朝E"/>
                          <a:cs typeface="HGS明朝E"/>
                        </a:rPr>
                        <a:t>{{FIRE_ZONE}}</a:t>
                      </a:r>
                    </a:p>
                  </a:txBody>
                  <a:tcPr marL="27940" marR="19050" marT="5080" marB="508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638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1E2328"/>
                          </a:solidFill>
                          <a:latin typeface="HGS明朝E"/>
                          <a:ea typeface="HGS明朝E"/>
                          <a:cs typeface="HGS明朝E"/>
                        </a:rPr>
                        <a:t>高度地区</a:t>
                      </a:r>
                    </a:p>
                  </a:txBody>
                  <a:tcPr marL="27940" marR="19050" marT="5080" marB="5080" anchor="ctr">
                    <a:solidFill>
                      <a:srgbClr val="F4F0E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 dirty="0">
                          <a:solidFill>
                            <a:srgbClr val="1E2328"/>
                          </a:solidFill>
                          <a:latin typeface="HGS明朝E"/>
                          <a:ea typeface="HGS明朝E"/>
                          <a:cs typeface="HGS明朝E"/>
                        </a:rPr>
                        <a:t>{{HEIGHT_ZONE}}</a:t>
                      </a:r>
                    </a:p>
                  </a:txBody>
                  <a:tcPr marL="27940" marR="19050" marT="5080" marB="508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638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1E2328"/>
                          </a:solidFill>
                          <a:latin typeface="HGS明朝E"/>
                          <a:ea typeface="HGS明朝E"/>
                          <a:cs typeface="HGS明朝E"/>
                        </a:rPr>
                        <a:t>都市計画</a:t>
                      </a:r>
                    </a:p>
                  </a:txBody>
                  <a:tcPr marL="27940" marR="19050" marT="5080" marB="5080" anchor="ctr">
                    <a:solidFill>
                      <a:srgbClr val="F4F0E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E2328"/>
                          </a:solidFill>
                          <a:latin typeface="HGS明朝E"/>
                          <a:ea typeface="HGS明朝E"/>
                          <a:cs typeface="HGS明朝E"/>
                        </a:rPr>
                        <a:t>{{CITY_PLAN}}</a:t>
                      </a:r>
                    </a:p>
                  </a:txBody>
                  <a:tcPr marL="27940" marR="19050" marT="5080" marB="508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638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1E2328"/>
                          </a:solidFill>
                          <a:latin typeface="HGS明朝E"/>
                          <a:ea typeface="HGS明朝E"/>
                          <a:cs typeface="HGS明朝E"/>
                        </a:rPr>
                        <a:t>接道方位</a:t>
                      </a:r>
                    </a:p>
                  </a:txBody>
                  <a:tcPr marL="27940" marR="19050" marT="5080" marB="5080" anchor="ctr">
                    <a:solidFill>
                      <a:srgbClr val="F4F0E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 dirty="0" err="1">
                          <a:solidFill>
                            <a:srgbClr val="1E2328"/>
                          </a:solidFill>
                          <a:latin typeface="HGS明朝E"/>
                          <a:ea typeface="HGS明朝E"/>
                          <a:cs typeface="HGS明朝E"/>
                        </a:rPr>
                        <a:t>{{ROAD_DIR}}</a:t>
                      </a:r>
                      <a:endParaRPr sz="850" b="0" dirty="0">
                        <a:solidFill>
                          <a:srgbClr val="1E2328"/>
                        </a:solidFill>
                        <a:latin typeface="HGS明朝E"/>
                        <a:ea typeface="HGS明朝E"/>
                        <a:cs typeface="HGS明朝E"/>
                      </a:endParaRPr>
                    </a:p>
                  </a:txBody>
                  <a:tcPr marL="27940" marR="19050" marT="5080" marB="508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638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1E2328"/>
                          </a:solidFill>
                          <a:latin typeface="HGS明朝E"/>
                          <a:ea typeface="HGS明朝E"/>
                          <a:cs typeface="HGS明朝E"/>
                        </a:rPr>
                        <a:t>接道幅員</a:t>
                      </a:r>
                    </a:p>
                  </a:txBody>
                  <a:tcPr marL="27940" marR="19050" marT="5080" marB="5080" anchor="ctr">
                    <a:solidFill>
                      <a:srgbClr val="F4F0E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E2328"/>
                          </a:solidFill>
                          <a:latin typeface="HGS明朝E"/>
                          <a:ea typeface="HGS明朝E"/>
                          <a:cs typeface="HGS明朝E"/>
                        </a:rPr>
                        <a:t>{{ROAD_WIDTH}}</a:t>
                      </a:r>
                    </a:p>
                  </a:txBody>
                  <a:tcPr marL="27940" marR="19050" marT="5080" marB="508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638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1E2328"/>
                          </a:solidFill>
                          <a:latin typeface="HGS明朝E"/>
                          <a:ea typeface="HGS明朝E"/>
                          <a:cs typeface="HGS明朝E"/>
                        </a:rPr>
                        <a:t>接面距離</a:t>
                      </a:r>
                    </a:p>
                  </a:txBody>
                  <a:tcPr marL="27940" marR="19050" marT="5080" marB="5080" anchor="ctr">
                    <a:solidFill>
                      <a:srgbClr val="F4F0E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E2328"/>
                          </a:solidFill>
                          <a:latin typeface="HGS明朝E"/>
                          <a:ea typeface="HGS明朝E"/>
                          <a:cs typeface="HGS明朝E"/>
                        </a:rPr>
                        <a:t>{{ROAD_FRONT}}</a:t>
                      </a:r>
                    </a:p>
                  </a:txBody>
                  <a:tcPr marL="27940" marR="19050" marT="5080" marB="508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638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1E2328"/>
                          </a:solidFill>
                          <a:latin typeface="HGS明朝E"/>
                          <a:ea typeface="HGS明朝E"/>
                          <a:cs typeface="HGS明朝E"/>
                        </a:rPr>
                        <a:t>私道負担</a:t>
                      </a:r>
                    </a:p>
                  </a:txBody>
                  <a:tcPr marL="27940" marR="19050" marT="5080" marB="5080" anchor="ctr">
                    <a:solidFill>
                      <a:srgbClr val="F4F0E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E2328"/>
                          </a:solidFill>
                          <a:latin typeface="HGS明朝E"/>
                          <a:ea typeface="HGS明朝E"/>
                          <a:cs typeface="HGS明朝E"/>
                        </a:rPr>
                        <a:t>{{PRIVATE_ROAD}}</a:t>
                      </a:r>
                    </a:p>
                  </a:txBody>
                  <a:tcPr marL="27940" marR="19050" marT="5080" marB="508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638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1E2328"/>
                          </a:solidFill>
                          <a:latin typeface="HGS明朝E"/>
                          <a:ea typeface="HGS明朝E"/>
                          <a:cs typeface="HGS明朝E"/>
                        </a:rPr>
                        <a:t>セットバック</a:t>
                      </a:r>
                    </a:p>
                  </a:txBody>
                  <a:tcPr marL="27940" marR="19050" marT="5080" marB="5080" anchor="ctr">
                    <a:solidFill>
                      <a:srgbClr val="F4F0E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E2328"/>
                          </a:solidFill>
                          <a:latin typeface="HGS明朝E"/>
                          <a:ea typeface="HGS明朝E"/>
                          <a:cs typeface="HGS明朝E"/>
                        </a:rPr>
                        <a:t>{{SETBACK}}</a:t>
                      </a:r>
                    </a:p>
                  </a:txBody>
                  <a:tcPr marL="27940" marR="19050" marT="5080" marB="508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638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1E2328"/>
                          </a:solidFill>
                          <a:latin typeface="HGS明朝E"/>
                          <a:ea typeface="HGS明朝E"/>
                          <a:cs typeface="HGS明朝E"/>
                        </a:rPr>
                        <a:t>建築条件</a:t>
                      </a:r>
                    </a:p>
                  </a:txBody>
                  <a:tcPr marL="27940" marR="19050" marT="5080" marB="5080" anchor="ctr">
                    <a:solidFill>
                      <a:srgbClr val="F4F0E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E2328"/>
                          </a:solidFill>
                          <a:latin typeface="HGS明朝E"/>
                          <a:ea typeface="HGS明朝E"/>
                          <a:cs typeface="HGS明朝E"/>
                        </a:rPr>
                        <a:t>{{BUILD_COND}}</a:t>
                      </a:r>
                    </a:p>
                  </a:txBody>
                  <a:tcPr marL="27940" marR="19050" marT="5080" marB="508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638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1E2328"/>
                          </a:solidFill>
                          <a:latin typeface="HGS明朝E"/>
                          <a:ea typeface="HGS明朝E"/>
                          <a:cs typeface="HGS明朝E"/>
                        </a:rPr>
                        <a:t>上下水道</a:t>
                      </a:r>
                    </a:p>
                  </a:txBody>
                  <a:tcPr marL="27940" marR="19050" marT="5080" marB="5080" anchor="ctr">
                    <a:solidFill>
                      <a:srgbClr val="F4F0E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E2328"/>
                          </a:solidFill>
                          <a:latin typeface="HGS明朝E"/>
                          <a:ea typeface="HGS明朝E"/>
                          <a:cs typeface="HGS明朝E"/>
                        </a:rPr>
                        <a:t>{{WATER_SEWER}}</a:t>
                      </a:r>
                    </a:p>
                  </a:txBody>
                  <a:tcPr marL="27940" marR="19050" marT="5080" marB="508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638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1E2328"/>
                          </a:solidFill>
                          <a:latin typeface="HGS明朝E"/>
                          <a:ea typeface="HGS明朝E"/>
                          <a:cs typeface="HGS明朝E"/>
                        </a:rPr>
                        <a:t>ガ　ス</a:t>
                      </a:r>
                    </a:p>
                  </a:txBody>
                  <a:tcPr marL="27940" marR="19050" marT="5080" marB="5080" anchor="ctr">
                    <a:solidFill>
                      <a:srgbClr val="F4F0E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E2328"/>
                          </a:solidFill>
                          <a:latin typeface="HGS明朝E"/>
                          <a:ea typeface="HGS明朝E"/>
                          <a:cs typeface="HGS明朝E"/>
                        </a:rPr>
                        <a:t>{{GAS}}</a:t>
                      </a:r>
                    </a:p>
                  </a:txBody>
                  <a:tcPr marL="27940" marR="19050" marT="5080" marB="508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638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1E2328"/>
                          </a:solidFill>
                          <a:latin typeface="HGS明朝E"/>
                          <a:ea typeface="HGS明朝E"/>
                          <a:cs typeface="HGS明朝E"/>
                        </a:rPr>
                        <a:t>特　記</a:t>
                      </a:r>
                    </a:p>
                  </a:txBody>
                  <a:tcPr marL="27940" marR="19050" marT="5080" marB="5080" anchor="ctr">
                    <a:solidFill>
                      <a:srgbClr val="F4F0E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FF0000"/>
                          </a:solidFill>
                          <a:latin typeface="HGS明朝E"/>
                          <a:ea typeface="HGS明朝E"/>
                          <a:cs typeface="HGS明朝E"/>
                        </a:rPr>
                        <a:t>{{SPECIAL}}</a:t>
                      </a:r>
                    </a:p>
                  </a:txBody>
                  <a:tcPr marL="27940" marR="19050" marT="5080" marB="508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1638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1E2328"/>
                          </a:solidFill>
                          <a:latin typeface="HGS明朝E"/>
                          <a:ea typeface="HGS明朝E"/>
                          <a:cs typeface="HGS明朝E"/>
                        </a:rPr>
                        <a:t>現　況</a:t>
                      </a:r>
                    </a:p>
                  </a:txBody>
                  <a:tcPr marL="27940" marR="19050" marT="5080" marB="5080" anchor="ctr">
                    <a:solidFill>
                      <a:srgbClr val="F4F0E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E2328"/>
                          </a:solidFill>
                          <a:latin typeface="HGS明朝E"/>
                          <a:ea typeface="HGS明朝E"/>
                          <a:cs typeface="HGS明朝E"/>
                        </a:rPr>
                        <a:t>{{STATUS}}</a:t>
                      </a:r>
                    </a:p>
                  </a:txBody>
                  <a:tcPr marL="27940" marR="19050" marT="5080" marB="508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1638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 dirty="0">
                          <a:solidFill>
                            <a:srgbClr val="1E2328"/>
                          </a:solidFill>
                          <a:latin typeface="HGS明朝E"/>
                          <a:ea typeface="HGS明朝E"/>
                          <a:cs typeface="HGS明朝E"/>
                        </a:rPr>
                        <a:t>引　渡</a:t>
                      </a:r>
                    </a:p>
                  </a:txBody>
                  <a:tcPr marL="27940" marR="19050" marT="5080" marB="5080" anchor="ctr">
                    <a:solidFill>
                      <a:srgbClr val="F4F0E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 dirty="0" err="1">
                          <a:solidFill>
                            <a:srgbClr val="1E2328"/>
                          </a:solidFill>
                          <a:latin typeface="HGS明朝E"/>
                          <a:ea typeface="HGS明朝E"/>
                          <a:cs typeface="HGS明朝E"/>
                        </a:rPr>
                        <a:t>{{HANDOVER}}</a:t>
                      </a:r>
                      <a:endParaRPr sz="850" b="0" dirty="0">
                        <a:solidFill>
                          <a:srgbClr val="1E2328"/>
                        </a:solidFill>
                        <a:latin typeface="HGS明朝E"/>
                        <a:ea typeface="HGS明朝E"/>
                        <a:cs typeface="HGS明朝E"/>
                      </a:endParaRPr>
                    </a:p>
                  </a:txBody>
                  <a:tcPr marL="27940" marR="19050" marT="5080" marB="508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</a:tbl>
          </a:graphicData>
        </a:graphic>
      </p:graphicFrame>
      <p:sp>
        <p:nvSpPr>
          <p:cNvPr id="308" name="Rectangle 307"/>
          <p:cNvSpPr/>
          <p:nvPr/>
        </p:nvSpPr>
        <p:spPr>
          <a:xfrm>
            <a:off x="7578000" y="5757491"/>
            <a:ext cx="3024000" cy="187200"/>
          </a:xfrm>
          <a:prstGeom prst="rect">
            <a:avLst/>
          </a:prstGeom>
          <a:solidFill>
            <a:srgbClr val="BEAF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ja-JP" sz="1200" b="1" dirty="0">
                <a:solidFill>
                  <a:srgbClr val="FFFFFF"/>
                </a:solidFill>
                <a:latin typeface="HGS明朝E"/>
                <a:ea typeface="HGS明朝E"/>
                <a:cs typeface="HGS明朝E"/>
              </a:rPr>
              <a:t>LIFE INFORMATION</a:t>
            </a:r>
          </a:p>
        </p:txBody>
      </p:sp>
      <p:sp>
        <p:nvSpPr>
          <p:cNvPr id="311" name="Rectangle 310"/>
          <p:cNvSpPr/>
          <p:nvPr/>
        </p:nvSpPr>
        <p:spPr>
          <a:xfrm>
            <a:off x="7578000" y="4676094"/>
            <a:ext cx="3024000" cy="187200"/>
          </a:xfrm>
          <a:prstGeom prst="rect">
            <a:avLst/>
          </a:prstGeom>
          <a:solidFill>
            <a:srgbClr val="BEAF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ja-JP" altLang="en-US" sz="1200" dirty="0">
                <a:latin typeface="HGS明朝E" panose="02020900000000000000" pitchFamily="18" charset="-128"/>
                <a:ea typeface="HGS明朝E" panose="02020900000000000000" pitchFamily="18" charset="-128"/>
              </a:rPr>
              <a:t>備考</a:t>
            </a:r>
            <a:endParaRPr sz="1200" dirty="0">
              <a:latin typeface="HGS明朝E" panose="02020900000000000000" pitchFamily="18" charset="-128"/>
              <a:ea typeface="HGS明朝E" panose="02020900000000000000" pitchFamily="18" charset="-128"/>
            </a:endParaRPr>
          </a:p>
        </p:txBody>
      </p:sp>
      <p:sp>
        <p:nvSpPr>
          <p:cNvPr id="313" name="TextBox 312"/>
          <p:cNvSpPr txBox="1"/>
          <p:nvPr/>
        </p:nvSpPr>
        <p:spPr>
          <a:xfrm>
            <a:off x="7578000" y="4863294"/>
            <a:ext cx="3020638" cy="654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>
                <a:latin typeface="HGS明朝E"/>
                <a:ea typeface="HGS明朝E"/>
                <a:cs typeface="HGS明朝E"/>
              </a:rPr>
              <a:t>{{NOTE1}}</a:t>
            </a:r>
            <a:endParaRPr lang="en-US" sz="850" b="1" dirty="0">
              <a:solidFill>
                <a:srgbClr val="1E2328"/>
              </a:solidFill>
              <a:latin typeface="HGS明朝E"/>
              <a:ea typeface="HGS明朝E"/>
              <a:cs typeface="HGS明朝E"/>
            </a:endParaRPr>
          </a:p>
          <a:p>
            <a:pPr algn="l"/>
            <a:r>
              <a:rPr sz="850">
                <a:latin typeface="HGS明朝E"/>
                <a:ea typeface="HGS明朝E"/>
                <a:cs typeface="HGS明朝E"/>
              </a:rPr>
              <a:t>{{NOTE2}}</a:t>
            </a:r>
          </a:p>
          <a:p>
            <a:pPr algn="l"/>
            <a:r>
              <a:rPr sz="850">
                <a:latin typeface="HGS明朝E"/>
                <a:ea typeface="HGS明朝E"/>
                <a:cs typeface="HGS明朝E"/>
              </a:rPr>
              <a:t>{{NOTE3}}</a:t>
            </a:r>
          </a:p>
          <a:p>
            <a:pPr algn="l"/>
            <a:r>
              <a:rPr sz="850">
                <a:latin typeface="HGS明朝E"/>
                <a:ea typeface="HGS明朝E"/>
                <a:cs typeface="HGS明朝E"/>
              </a:rPr>
              <a:t>{{NOTE4}}</a:t>
            </a:r>
          </a:p>
        </p:txBody>
      </p:sp>
      <p:sp>
        <p:nvSpPr>
          <p:cNvPr id="314" name="TextBox 313"/>
          <p:cNvSpPr txBox="1"/>
          <p:nvPr/>
        </p:nvSpPr>
        <p:spPr>
          <a:xfrm>
            <a:off x="4032000" y="6832800"/>
            <a:ext cx="2232000" cy="6771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dirty="0">
                <a:latin typeface="HGS明朝E"/>
                <a:ea typeface="HGS明朝E"/>
                <a:cs typeface="HGS明朝E"/>
              </a:rPr>
              <a:t>TEL</a:t>
            </a:r>
            <a:r>
              <a:rPr lang="en-US" sz="1100" b="1" dirty="0">
                <a:latin typeface="HGS明朝E"/>
                <a:ea typeface="HGS明朝E"/>
                <a:cs typeface="HGS明朝E"/>
              </a:rPr>
              <a:t>:</a:t>
            </a:r>
            <a:r>
              <a:rPr sz="1100" b="1" dirty="0">
                <a:latin typeface="HGS明朝E"/>
                <a:ea typeface="HGS明朝E"/>
                <a:cs typeface="HGS明朝E"/>
              </a:rPr>
              <a:t>03-5753-0021</a:t>
            </a:r>
            <a:endParaRPr lang="en-US" sz="1100" b="1" dirty="0">
              <a:latin typeface="HGS明朝E"/>
              <a:ea typeface="HGS明朝E"/>
              <a:cs typeface="HGS明朝E"/>
            </a:endParaRPr>
          </a:p>
          <a:p>
            <a:r>
              <a:rPr lang="ja-JP" altLang="en-US" sz="1100" b="1" dirty="0">
                <a:latin typeface="HGS明朝E"/>
                <a:ea typeface="HGS明朝E"/>
                <a:cs typeface="HGS明朝E"/>
              </a:rPr>
              <a:t>携帯</a:t>
            </a:r>
            <a:r>
              <a:rPr lang="en-US" altLang="ja-JP" sz="1100" b="1" dirty="0">
                <a:latin typeface="HGS明朝E"/>
                <a:ea typeface="HGS明朝E"/>
                <a:cs typeface="HGS明朝E"/>
              </a:rPr>
              <a:t>:{{AGENT_MOBILE}}</a:t>
            </a:r>
            <a:r>
              <a:rPr lang="ja-JP" altLang="en-US" sz="800" b="1" dirty="0">
                <a:latin typeface="HGS明朝E"/>
                <a:ea typeface="HGS明朝E"/>
                <a:cs typeface="HGS明朝E"/>
              </a:rPr>
              <a:t>（担当）</a:t>
            </a:r>
            <a:endParaRPr lang="en-US" sz="800" b="1" dirty="0">
              <a:latin typeface="HGS明朝E"/>
              <a:ea typeface="HGS明朝E"/>
              <a:cs typeface="HGS明朝E"/>
            </a:endParaRPr>
          </a:p>
          <a:p>
            <a:r>
              <a:rPr lang="fr-FR" altLang="ja-JP" sz="1100" b="1" dirty="0">
                <a:solidFill>
                  <a:srgbClr val="1E2328"/>
                </a:solidFill>
                <a:latin typeface="HGS明朝E"/>
                <a:ea typeface="HGS明朝E"/>
                <a:cs typeface="HGS明朝E"/>
              </a:rPr>
              <a:t>Mail:{{AGENT_MAIL}}</a:t>
            </a:r>
            <a:endParaRPr lang="en-US" sz="1100" b="1" dirty="0">
              <a:latin typeface="HGS明朝E"/>
              <a:ea typeface="HGS明朝E"/>
              <a:cs typeface="HGS明朝E"/>
            </a:endParaRPr>
          </a:p>
          <a:p>
            <a:r>
              <a:rPr lang="ja-JP" altLang="en-US" sz="1100" b="1" dirty="0">
                <a:solidFill>
                  <a:srgbClr val="1E2328"/>
                </a:solidFill>
                <a:latin typeface="HGS明朝E"/>
                <a:ea typeface="HGS明朝E"/>
                <a:cs typeface="HGS明朝E"/>
              </a:rPr>
              <a:t>定休</a:t>
            </a:r>
            <a:r>
              <a:rPr lang="en-US" altLang="ja-JP" sz="1100" b="1" dirty="0">
                <a:solidFill>
                  <a:srgbClr val="1E2328"/>
                </a:solidFill>
                <a:latin typeface="HGS明朝E"/>
                <a:ea typeface="HGS明朝E"/>
                <a:cs typeface="HGS明朝E"/>
              </a:rPr>
              <a:t>:</a:t>
            </a:r>
            <a:r>
              <a:rPr lang="ja-JP" altLang="en-US" sz="1100" b="1" dirty="0">
                <a:solidFill>
                  <a:srgbClr val="1E2328"/>
                </a:solidFill>
                <a:latin typeface="HGS明朝E"/>
                <a:ea typeface="HGS明朝E"/>
                <a:cs typeface="HGS明朝E"/>
              </a:rPr>
              <a:t>毎週火曜・水曜</a:t>
            </a:r>
            <a:r>
              <a:rPr lang="en-US" altLang="ja-JP" sz="800" b="1" dirty="0">
                <a:solidFill>
                  <a:srgbClr val="1E2328"/>
                </a:solidFill>
                <a:latin typeface="HGS明朝E"/>
                <a:ea typeface="HGS明朝E"/>
                <a:cs typeface="HGS明朝E"/>
              </a:rPr>
              <a:t>(</a:t>
            </a:r>
            <a:r>
              <a:rPr lang="ja-JP" altLang="en-US" sz="800" b="1" dirty="0">
                <a:solidFill>
                  <a:srgbClr val="1E2328"/>
                </a:solidFill>
                <a:latin typeface="HGS明朝E"/>
                <a:ea typeface="HGS明朝E"/>
                <a:cs typeface="HGS明朝E"/>
              </a:rPr>
              <a:t>急用時は担当まで</a:t>
            </a:r>
            <a:r>
              <a:rPr lang="en-US" altLang="ja-JP" sz="800" b="1" dirty="0">
                <a:solidFill>
                  <a:srgbClr val="1E2328"/>
                </a:solidFill>
                <a:latin typeface="HGS明朝E"/>
                <a:ea typeface="HGS明朝E"/>
                <a:cs typeface="HGS明朝E"/>
              </a:rPr>
              <a:t>)</a:t>
            </a:r>
            <a:endParaRPr lang="en-US" altLang="ja-JP" sz="1100" b="1" dirty="0">
              <a:solidFill>
                <a:srgbClr val="1E2328"/>
              </a:solidFill>
              <a:latin typeface="HGS明朝E"/>
              <a:ea typeface="HGS明朝E"/>
              <a:cs typeface="HGS明朝E"/>
            </a:endParaRPr>
          </a:p>
        </p:txBody>
      </p:sp>
      <p:sp>
        <p:nvSpPr>
          <p:cNvPr id="318" name="TextBox 317"/>
          <p:cNvSpPr txBox="1"/>
          <p:nvPr/>
        </p:nvSpPr>
        <p:spPr>
          <a:xfrm>
            <a:off x="6141032" y="6893555"/>
            <a:ext cx="2477935" cy="55168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lang="ja-JP" altLang="en-US" sz="1050" b="1" dirty="0">
                <a:latin typeface="HGS明朝E"/>
                <a:ea typeface="HGS明朝E"/>
                <a:cs typeface="HGS明朝E"/>
              </a:rPr>
              <a:t>広告掲載可（但し要連絡）</a:t>
            </a:r>
            <a:endParaRPr lang="en-US" sz="1050" b="1" dirty="0">
              <a:latin typeface="HGS明朝E"/>
              <a:ea typeface="HGS明朝E"/>
              <a:cs typeface="HGS明朝E"/>
            </a:endParaRPr>
          </a:p>
          <a:p>
            <a:pPr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dirty="0">
                <a:latin typeface="HGS明朝E"/>
                <a:ea typeface="HGS明朝E"/>
                <a:cs typeface="HGS明朝E"/>
              </a:rPr>
              <a:t>内覧依頼</a:t>
            </a:r>
            <a:r>
              <a:rPr lang="en-US" sz="1050" b="1" dirty="0">
                <a:latin typeface="HGS明朝E"/>
                <a:ea typeface="HGS明朝E"/>
                <a:cs typeface="HGS明朝E"/>
              </a:rPr>
              <a:t>/</a:t>
            </a:r>
            <a:r>
              <a:rPr sz="1050" b="1" dirty="0">
                <a:latin typeface="HGS明朝E"/>
                <a:ea typeface="HGS明朝E"/>
                <a:cs typeface="HGS明朝E"/>
              </a:rPr>
              <a:t>資料請求</a:t>
            </a:r>
            <a:r>
              <a:rPr lang="en-US" sz="1050" b="1" dirty="0">
                <a:latin typeface="HGS明朝E"/>
                <a:ea typeface="HGS明朝E"/>
                <a:cs typeface="HGS明朝E"/>
              </a:rPr>
              <a:t>/</a:t>
            </a:r>
            <a:r>
              <a:rPr sz="1050" b="1" dirty="0" err="1">
                <a:latin typeface="HGS明朝E"/>
                <a:ea typeface="HGS明朝E"/>
                <a:cs typeface="HGS明朝E"/>
              </a:rPr>
              <a:t>広告掲載依頼</a:t>
            </a:r>
            <a:endParaRPr lang="en-US" sz="1050" b="1" dirty="0">
              <a:latin typeface="HGS明朝E"/>
              <a:ea typeface="HGS明朝E"/>
              <a:cs typeface="HGS明朝E"/>
            </a:endParaRPr>
          </a:p>
          <a:p>
            <a:pPr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dirty="0">
                <a:latin typeface="HGS明朝E"/>
                <a:ea typeface="HGS明朝E"/>
                <a:cs typeface="HGS明朝E"/>
              </a:rPr>
              <a:t>QRコードから</a:t>
            </a:r>
            <a:r>
              <a:rPr lang="ja-JP" altLang="en-US" sz="1050" b="1" dirty="0">
                <a:latin typeface="HGS明朝E"/>
                <a:ea typeface="HGS明朝E"/>
                <a:cs typeface="HGS明朝E"/>
              </a:rPr>
              <a:t>お問合せ下さい。</a:t>
            </a:r>
            <a:endParaRPr sz="1050" b="1" dirty="0">
              <a:latin typeface="HGS明朝E"/>
              <a:ea typeface="HGS明朝E"/>
              <a:cs typeface="HGS明朝E"/>
            </a:endParaRPr>
          </a:p>
        </p:txBody>
      </p:sp>
      <p:sp>
        <p:nvSpPr>
          <p:cNvPr id="319" name="Rectangle 318"/>
          <p:cNvSpPr/>
          <p:nvPr/>
        </p:nvSpPr>
        <p:spPr>
          <a:xfrm>
            <a:off x="9216000" y="6861600"/>
            <a:ext cx="540000" cy="324000"/>
          </a:xfrm>
          <a:prstGeom prst="rect">
            <a:avLst/>
          </a:prstGeom>
          <a:solidFill>
            <a:srgbClr val="F4F0EA"/>
          </a:solidFill>
          <a:ln w="9525">
            <a:solidFill>
              <a:srgbClr val="8C6E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0" name="Rectangle 319"/>
          <p:cNvSpPr/>
          <p:nvPr/>
        </p:nvSpPr>
        <p:spPr>
          <a:xfrm>
            <a:off x="9756000" y="6861600"/>
            <a:ext cx="864000" cy="324000"/>
          </a:xfrm>
          <a:prstGeom prst="rect">
            <a:avLst/>
          </a:prstGeom>
          <a:solidFill>
            <a:srgbClr val="FFFFFF"/>
          </a:solidFill>
          <a:ln w="9525">
            <a:solidFill>
              <a:srgbClr val="8C6E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1" name="TextBox 320"/>
          <p:cNvSpPr txBox="1"/>
          <p:nvPr/>
        </p:nvSpPr>
        <p:spPr>
          <a:xfrm>
            <a:off x="9216000" y="6962044"/>
            <a:ext cx="540000" cy="12311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dirty="0" err="1">
                <a:latin typeface="HGS明朝E"/>
                <a:ea typeface="HGS明朝E"/>
                <a:cs typeface="HGS明朝E"/>
              </a:rPr>
              <a:t>取引態様</a:t>
            </a:r>
            <a:endParaRPr sz="800" b="1" dirty="0">
              <a:latin typeface="HGS明朝E"/>
              <a:ea typeface="HGS明朝E"/>
              <a:cs typeface="HGS明朝E"/>
            </a:endParaRPr>
          </a:p>
        </p:txBody>
      </p:sp>
      <p:sp>
        <p:nvSpPr>
          <p:cNvPr id="322" name="TextBox 321"/>
          <p:cNvSpPr txBox="1"/>
          <p:nvPr/>
        </p:nvSpPr>
        <p:spPr>
          <a:xfrm>
            <a:off x="9756000" y="6861600"/>
            <a:ext cx="864000" cy="324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E2328"/>
                </a:solidFill>
                <a:latin typeface="HGS明朝E"/>
                <a:ea typeface="HGS明朝E"/>
                <a:cs typeface="HGS明朝E"/>
              </a:rPr>
              <a:t>媒介</a:t>
            </a:r>
          </a:p>
        </p:txBody>
      </p:sp>
      <p:sp>
        <p:nvSpPr>
          <p:cNvPr id="323" name="Rectangle 322"/>
          <p:cNvSpPr/>
          <p:nvPr/>
        </p:nvSpPr>
        <p:spPr>
          <a:xfrm>
            <a:off x="9216000" y="7185600"/>
            <a:ext cx="540000" cy="324000"/>
          </a:xfrm>
          <a:prstGeom prst="rect">
            <a:avLst/>
          </a:prstGeom>
          <a:solidFill>
            <a:srgbClr val="F4F0EA"/>
          </a:solidFill>
          <a:ln w="9525">
            <a:solidFill>
              <a:srgbClr val="8C6E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4" name="Rectangle 323"/>
          <p:cNvSpPr/>
          <p:nvPr/>
        </p:nvSpPr>
        <p:spPr>
          <a:xfrm>
            <a:off x="9756000" y="7185600"/>
            <a:ext cx="864000" cy="324000"/>
          </a:xfrm>
          <a:prstGeom prst="rect">
            <a:avLst/>
          </a:prstGeom>
          <a:solidFill>
            <a:srgbClr val="FFFFFF"/>
          </a:solidFill>
          <a:ln w="9525">
            <a:solidFill>
              <a:srgbClr val="8C6E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5" name="TextBox 324"/>
          <p:cNvSpPr txBox="1"/>
          <p:nvPr/>
        </p:nvSpPr>
        <p:spPr>
          <a:xfrm>
            <a:off x="9216000" y="7286044"/>
            <a:ext cx="540000" cy="12311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dirty="0" err="1">
                <a:latin typeface="HGS明朝E"/>
                <a:ea typeface="HGS明朝E"/>
                <a:cs typeface="HGS明朝E"/>
              </a:rPr>
              <a:t>担当</a:t>
            </a:r>
            <a:endParaRPr sz="800" b="1" dirty="0">
              <a:latin typeface="HGS明朝E"/>
              <a:ea typeface="HGS明朝E"/>
              <a:cs typeface="HGS明朝E"/>
            </a:endParaRPr>
          </a:p>
        </p:txBody>
      </p:sp>
      <p:sp>
        <p:nvSpPr>
          <p:cNvPr id="326" name="TextBox 325"/>
          <p:cNvSpPr txBox="1"/>
          <p:nvPr/>
        </p:nvSpPr>
        <p:spPr>
          <a:xfrm>
            <a:off x="9756000" y="7185600"/>
            <a:ext cx="864000" cy="324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E2328"/>
                </a:solidFill>
                <a:latin typeface="HGS明朝E"/>
                <a:ea typeface="HGS明朝E"/>
                <a:cs typeface="HGS明朝E"/>
              </a:rPr>
              <a:t>{{AGENT_NAME}}</a:t>
            </a: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EDE75C3B-E259-2FAE-0E89-AAC7C4044DAE}"/>
              </a:ext>
            </a:extLst>
          </p:cNvPr>
          <p:cNvSpPr txBox="1"/>
          <p:nvPr/>
        </p:nvSpPr>
        <p:spPr>
          <a:xfrm>
            <a:off x="9720793" y="4836653"/>
            <a:ext cx="934413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ja-JP" altLang="en-US" sz="850" b="1" dirty="0">
                <a:solidFill>
                  <a:srgbClr val="1E2328"/>
                </a:solidFill>
                <a:latin typeface="HGS明朝E"/>
                <a:ea typeface="HGS明朝E"/>
                <a:cs typeface="HGS明朝E"/>
              </a:rPr>
              <a:t>↓物件詳細↓</a:t>
            </a:r>
            <a:endParaRPr lang="ja-JP" altLang="en-US" dirty="0"/>
          </a:p>
        </p:txBody>
      </p:sp>
      <p:sp>
        <p:nvSpPr>
          <p:cNvPr id="22" name="四角形 228">
            <a:extLst>
              <a:ext uri="{FF2B5EF4-FFF2-40B4-BE49-F238E27FC236}">
                <a16:creationId xmlns:a16="http://schemas.microsoft.com/office/drawing/2014/main" id="{507469B0-471A-DAFB-0788-5D14596A2148}"/>
              </a:ext>
            </a:extLst>
          </p:cNvPr>
          <p:cNvSpPr>
            <a:spLocks noChangeAspect="1"/>
          </p:cNvSpPr>
          <p:nvPr/>
        </p:nvSpPr>
        <p:spPr>
          <a:xfrm>
            <a:off x="9853201" y="5050494"/>
            <a:ext cx="669595" cy="669595"/>
          </a:xfrm>
          <a:prstGeom prst="rect">
            <a:avLst/>
          </a:prstGeom>
          <a:noFill/>
          <a:ln>
            <a:solidFill>
              <a:schemeClr val="accent1"/>
            </a:solidFill>
            <a:prstDash val="sysDot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A4FFF10A-C47E-B997-39D4-37912E652F2C}"/>
              </a:ext>
            </a:extLst>
          </p:cNvPr>
          <p:cNvSpPr txBox="1"/>
          <p:nvPr/>
        </p:nvSpPr>
        <p:spPr>
          <a:xfrm>
            <a:off x="140419" y="694800"/>
            <a:ext cx="758244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800" dirty="0">
                <a:ln w="3175">
                  <a:solidFill>
                    <a:schemeClr val="tx1">
                      <a:alpha val="36000"/>
                    </a:schemeClr>
                  </a:solidFill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HGS明朝E" panose="02020900000000000000" pitchFamily="18" charset="-128"/>
                <a:ea typeface="HGS明朝E" panose="02020900000000000000" pitchFamily="18" charset="-128"/>
              </a:rPr>
              <a:t>{{CATCH1}}</a:t>
            </a:r>
            <a:endParaRPr lang="en-US" altLang="ja-JP" sz="1800" dirty="0">
              <a:ln w="3175">
                <a:solidFill>
                  <a:schemeClr val="tx1">
                    <a:alpha val="36000"/>
                  </a:schemeClr>
                </a:solidFill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HGS明朝E" panose="02020900000000000000" pitchFamily="18" charset="-128"/>
              <a:ea typeface="HGS明朝E" panose="02020900000000000000" pitchFamily="18" charset="-128"/>
            </a:endParaRPr>
          </a:p>
          <a:p>
            <a:r>
              <a:rPr lang="ja-JP" altLang="en-US" sz="1800" dirty="0">
                <a:ln w="3175">
                  <a:solidFill>
                    <a:schemeClr val="tx1">
                      <a:alpha val="36000"/>
                    </a:schemeClr>
                  </a:solidFill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HGS明朝E" panose="02020900000000000000" pitchFamily="18" charset="-128"/>
                <a:ea typeface="HGS明朝E" panose="02020900000000000000" pitchFamily="18" charset="-128"/>
              </a:rPr>
              <a:t>{{CATCH2}}</a:t>
            </a:r>
          </a:p>
        </p:txBody>
      </p:sp>
      <p:pic>
        <p:nvPicPr>
          <p:cNvPr id="139" name="図形 138" descr="間取図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79566" y="788400"/>
            <a:ext cx="2653434" cy="2760672"/>
          </a:xfrm>
          <a:prstGeom prst="rect">
            <a:avLst/>
          </a:prstGeom>
        </p:spPr>
      </p:pic>
      <p:grpSp>
        <p:nvGrpSpPr>
          <p:cNvPr id="31" name="グループ化 30">
            <a:extLst>
              <a:ext uri="{FF2B5EF4-FFF2-40B4-BE49-F238E27FC236}">
                <a16:creationId xmlns:a16="http://schemas.microsoft.com/office/drawing/2014/main" id="{7C2349C5-82CE-F367-269E-F016CD5CCF60}"/>
              </a:ext>
            </a:extLst>
          </p:cNvPr>
          <p:cNvGrpSpPr/>
          <p:nvPr/>
        </p:nvGrpSpPr>
        <p:grpSpPr>
          <a:xfrm>
            <a:off x="3046026" y="2663017"/>
            <a:ext cx="1607235" cy="899182"/>
            <a:chOff x="5184001" y="3809070"/>
            <a:chExt cx="1800000" cy="954159"/>
          </a:xfrm>
        </p:grpSpPr>
        <p:sp>
          <p:nvSpPr>
            <p:cNvPr id="30" name="楕円 29">
              <a:extLst>
                <a:ext uri="{FF2B5EF4-FFF2-40B4-BE49-F238E27FC236}">
                  <a16:creationId xmlns:a16="http://schemas.microsoft.com/office/drawing/2014/main" id="{6B4053E6-C0F1-F2B3-F5F1-336EF8C237FB}"/>
                </a:ext>
              </a:extLst>
            </p:cNvPr>
            <p:cNvSpPr/>
            <p:nvPr/>
          </p:nvSpPr>
          <p:spPr>
            <a:xfrm>
              <a:off x="5184001" y="3809070"/>
              <a:ext cx="1800000" cy="954159"/>
            </a:xfrm>
            <a:prstGeom prst="ellipse">
              <a:avLst/>
            </a:prstGeom>
            <a:solidFill>
              <a:schemeClr val="bg1">
                <a:lumMod val="85000"/>
                <a:alpha val="25000"/>
              </a:schemeClr>
            </a:solidFill>
            <a:ln w="25400">
              <a:solidFill>
                <a:schemeClr val="bg2">
                  <a:lumMod val="50000"/>
                  <a:alpha val="3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/>
            </a:p>
          </p:txBody>
        </p:sp>
        <p:sp>
          <p:nvSpPr>
            <p:cNvPr id="26" name="楕円 25">
              <a:extLst>
                <a:ext uri="{FF2B5EF4-FFF2-40B4-BE49-F238E27FC236}">
                  <a16:creationId xmlns:a16="http://schemas.microsoft.com/office/drawing/2014/main" id="{4150D529-E6A0-9455-A8EE-38610B16DD4F}"/>
                </a:ext>
              </a:extLst>
            </p:cNvPr>
            <p:cNvSpPr/>
            <p:nvPr/>
          </p:nvSpPr>
          <p:spPr>
            <a:xfrm>
              <a:off x="5296078" y="3819326"/>
              <a:ext cx="1564118" cy="933450"/>
            </a:xfrm>
            <a:prstGeom prst="ellipse">
              <a:avLst/>
            </a:prstGeom>
            <a:blipFill dpi="0" rotWithShape="1">
              <a:blip r:embed="rId11">
                <a:alphaModFix amt="80000"/>
              </a:blip>
              <a:srcRect/>
              <a:stretch>
                <a:fillRect/>
              </a:stretch>
            </a:blipFill>
            <a:ln w="19050">
              <a:solidFill>
                <a:schemeClr val="bg2">
                  <a:lumMod val="50000"/>
                </a:schemeClr>
              </a:solidFill>
            </a:ln>
            <a:effectLst>
              <a:glow>
                <a:schemeClr val="accent3">
                  <a:satMod val="175000"/>
                  <a:alpha val="40000"/>
                </a:schemeClr>
              </a:glow>
              <a:softEdge rad="3175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en-US" altLang="ja-JP" sz="1600" dirty="0">
                <a:solidFill>
                  <a:schemeClr val="tx1"/>
                </a:solidFill>
                <a:latin typeface="HGS明朝E" panose="02020900000000000000" pitchFamily="18" charset="-128"/>
                <a:ea typeface="HGS明朝E" panose="02020900000000000000" pitchFamily="18" charset="-128"/>
              </a:endParaRPr>
            </a:p>
          </p:txBody>
        </p:sp>
        <p:sp>
          <p:nvSpPr>
            <p:cNvPr id="28" name="テキスト ボックス 27">
              <a:extLst>
                <a:ext uri="{FF2B5EF4-FFF2-40B4-BE49-F238E27FC236}">
                  <a16:creationId xmlns:a16="http://schemas.microsoft.com/office/drawing/2014/main" id="{7C57185B-041A-83B0-BA4B-409131C5F280}"/>
                </a:ext>
              </a:extLst>
            </p:cNvPr>
            <p:cNvSpPr txBox="1"/>
            <p:nvPr/>
          </p:nvSpPr>
          <p:spPr>
            <a:xfrm>
              <a:off x="5365039" y="3854488"/>
              <a:ext cx="1426197" cy="881805"/>
            </a:xfrm>
            <a:prstGeom prst="rect">
              <a:avLst/>
            </a:prstGeom>
            <a:noFill/>
            <a:ln w="3175"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kumimoji="1" lang="ja-JP" altLang="en-US" sz="1600" dirty="0">
                  <a:ln w="3175">
                    <a:noFill/>
                  </a:ln>
                  <a:latin typeface="HGS明朝E" panose="02020900000000000000" pitchFamily="18" charset="-128"/>
                  <a:ea typeface="HGS明朝E" panose="02020900000000000000" pitchFamily="18" charset="-128"/>
                </a:rPr>
                <a:t>{{LAND_TSUBO}}</a:t>
              </a:r>
              <a:endParaRPr kumimoji="1" lang="en-US" altLang="ja-JP" sz="1600" dirty="0">
                <a:ln w="3175">
                  <a:noFill/>
                </a:ln>
                <a:latin typeface="HGS明朝E" panose="02020900000000000000" pitchFamily="18" charset="-128"/>
                <a:ea typeface="HGS明朝E" panose="02020900000000000000" pitchFamily="18" charset="-128"/>
              </a:endParaRPr>
            </a:p>
            <a:p>
              <a:pPr algn="ctr"/>
              <a:r>
                <a:rPr kumimoji="1" lang="en-US" altLang="ja-JP" sz="1600" dirty="0">
                  <a:ln w="3175">
                    <a:noFill/>
                  </a:ln>
                  <a:latin typeface="HGS明朝E" panose="02020900000000000000" pitchFamily="18" charset="-128"/>
                  <a:ea typeface="HGS明朝E" panose="02020900000000000000" pitchFamily="18" charset="-128"/>
                </a:rPr>
                <a:t>{{AREA_MINI}}</a:t>
              </a:r>
              <a:endParaRPr kumimoji="1" lang="en-US" altLang="ja-JP" sz="1600" dirty="0">
                <a:ln w="3175">
                  <a:noFill/>
                </a:ln>
                <a:latin typeface="HGS明朝E" panose="02020900000000000000" pitchFamily="18" charset="-128"/>
                <a:ea typeface="HGS明朝E" panose="02020900000000000000" pitchFamily="18" charset="-128"/>
              </a:endParaRPr>
            </a:p>
            <a:p>
              <a:pPr algn="ctr"/>
              <a:r>
                <a:rPr kumimoji="1" lang="en-US" altLang="ja-JP" sz="1600" dirty="0">
                  <a:ln w="3175">
                    <a:noFill/>
                  </a:ln>
                  <a:latin typeface="HGS明朝E" panose="02020900000000000000" pitchFamily="18" charset="-128"/>
                  <a:ea typeface="HGS明朝E" panose="02020900000000000000" pitchFamily="18" charset="-128"/>
                </a:rPr>
                <a:t>{{BUILDING_RATIO}}/{{FLOOR_RATIO}}</a:t>
              </a:r>
              <a:endParaRPr kumimoji="1" lang="en-US" altLang="ja-JP" sz="1600" dirty="0">
                <a:ln w="3175">
                  <a:noFill/>
                </a:ln>
                <a:latin typeface="HGS明朝E" panose="02020900000000000000" pitchFamily="18" charset="-128"/>
                <a:ea typeface="HGS明朝E" panose="02020900000000000000" pitchFamily="18" charset="-128"/>
              </a:endParaRPr>
            </a:p>
          </p:txBody>
        </p:sp>
      </p:grpSp>
      <p:pic>
        <p:nvPicPr>
          <p:cNvPr id="32" name="図形 123">
            <a:extLst>
              <a:ext uri="{FF2B5EF4-FFF2-40B4-BE49-F238E27FC236}">
                <a16:creationId xmlns:a16="http://schemas.microsoft.com/office/drawing/2014/main" id="{86344F34-9B6D-EA62-6C17-92298BC146E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44000" y="4012191"/>
            <a:ext cx="1800000" cy="1170000"/>
          </a:xfrm>
          <a:prstGeom prst="rect">
            <a:avLst/>
          </a:prstGeom>
          <a:effectLst>
            <a:softEdge rad="36000"/>
          </a:effectLst>
        </p:spPr>
      </p:pic>
      <p:pic>
        <p:nvPicPr>
          <p:cNvPr id="33" name="図形 127">
            <a:extLst>
              <a:ext uri="{FF2B5EF4-FFF2-40B4-BE49-F238E27FC236}">
                <a16:creationId xmlns:a16="http://schemas.microsoft.com/office/drawing/2014/main" id="{F1E4980B-EAE9-B7A0-DC78-1A9F4E5CA6A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80000" y="4012191"/>
            <a:ext cx="1872000" cy="1170000"/>
          </a:xfrm>
          <a:prstGeom prst="rect">
            <a:avLst/>
          </a:prstGeom>
          <a:effectLst>
            <a:softEdge rad="36000"/>
          </a:effectLst>
        </p:spPr>
      </p:pic>
      <p:sp>
        <p:nvSpPr>
          <p:cNvPr id="34" name="Text 50">
            <a:extLst>
              <a:ext uri="{FF2B5EF4-FFF2-40B4-BE49-F238E27FC236}">
                <a16:creationId xmlns:a16="http://schemas.microsoft.com/office/drawing/2014/main" id="{4EA29069-82BF-27FA-8480-8E688DB47164}"/>
              </a:ext>
            </a:extLst>
          </p:cNvPr>
          <p:cNvSpPr>
            <a:spLocks noChangeAspect="1"/>
          </p:cNvSpPr>
          <p:nvPr/>
        </p:nvSpPr>
        <p:spPr>
          <a:xfrm>
            <a:off x="3762000" y="4966191"/>
            <a:ext cx="792000" cy="187200"/>
          </a:xfrm>
          <a:prstGeom prst="rect">
            <a:avLst/>
          </a:prstGeom>
          <a:solidFill>
            <a:srgbClr val="BEAF87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900" b="1" kern="0" spc="300" dirty="0">
                <a:solidFill>
                  <a:srgbClr val="1E2328"/>
                </a:solidFill>
                <a:latin typeface="HGS明朝E" panose="02020800000000000000" charset="-128"/>
                <a:ea typeface="HGS明朝E" panose="02020800000000000000" charset="-128"/>
                <a:cs typeface="HGS明朝E" panose="02040502050405020303" pitchFamily="34" charset="-120"/>
              </a:rPr>
              <a:t>{{CAP1}}</a:t>
            </a:r>
            <a:endParaRPr lang="ja-JP" altLang="en-US" sz="500" b="1" kern="0" spc="300" dirty="0">
              <a:solidFill>
                <a:schemeClr val="bg1"/>
              </a:solidFill>
              <a:latin typeface="HGS明朝E" panose="02020800000000000000" charset="-128"/>
              <a:ea typeface="HGS明朝E" panose="02020800000000000000" charset="-128"/>
              <a:cs typeface="Georgia" panose="02040502050405020303" pitchFamily="34" charset="-120"/>
            </a:endParaRPr>
          </a:p>
        </p:txBody>
      </p:sp>
      <p:sp>
        <p:nvSpPr>
          <p:cNvPr id="35" name="Text 50">
            <a:extLst>
              <a:ext uri="{FF2B5EF4-FFF2-40B4-BE49-F238E27FC236}">
                <a16:creationId xmlns:a16="http://schemas.microsoft.com/office/drawing/2014/main" id="{A29E3404-1B0C-7E51-511B-13EDFFF936C5}"/>
              </a:ext>
            </a:extLst>
          </p:cNvPr>
          <p:cNvSpPr>
            <a:spLocks noChangeAspect="1"/>
          </p:cNvSpPr>
          <p:nvPr/>
        </p:nvSpPr>
        <p:spPr>
          <a:xfrm>
            <a:off x="5598000" y="4966191"/>
            <a:ext cx="792000" cy="187200"/>
          </a:xfrm>
          <a:prstGeom prst="rect">
            <a:avLst/>
          </a:prstGeom>
          <a:solidFill>
            <a:srgbClr val="BEAF87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900" b="1" kern="0" spc="300" dirty="0">
                <a:solidFill>
                  <a:srgbClr val="1E2328"/>
                </a:solidFill>
                <a:latin typeface="HGS明朝E" panose="02020800000000000000" charset="-128"/>
                <a:ea typeface="HGS明朝E" panose="02020800000000000000" charset="-128"/>
                <a:cs typeface="HGS明朝E" panose="02040502050405020303" pitchFamily="34" charset="-120"/>
              </a:rPr>
              <a:t>{{CAP2}}</a:t>
            </a:r>
            <a:endParaRPr lang="ja-JP" altLang="en-US" sz="500" b="1" kern="0" spc="300" dirty="0">
              <a:solidFill>
                <a:schemeClr val="bg1"/>
              </a:solidFill>
              <a:latin typeface="HGS明朝E" panose="02020800000000000000" charset="-128"/>
              <a:ea typeface="HGS明朝E" panose="02020800000000000000" charset="-128"/>
              <a:cs typeface="Georgia" panose="02040502050405020303" pitchFamily="34" charset="-120"/>
            </a:endParaRPr>
          </a:p>
        </p:txBody>
      </p:sp>
      <p:sp>
        <p:nvSpPr>
          <p:cNvPr id="327" name="TextBox 326"/>
          <p:cNvSpPr txBox="1"/>
          <p:nvPr/>
        </p:nvSpPr>
        <p:spPr>
          <a:xfrm>
            <a:off x="7596000" y="5954203"/>
            <a:ext cx="1872000" cy="676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140"/>
              </a:spcBef>
              <a:spcAft>
                <a:spcPts val="140"/>
              </a:spcAft>
            </a:pPr>
            <a:r>
              <a:rPr sz="850">
                <a:solidFill>
                  <a:srgbClr val="1E2328"/>
                </a:solidFill>
                <a:latin typeface="HGS明朝E"/>
                <a:ea typeface="HGS明朝E"/>
                <a:cs typeface="HGS明朝E"/>
              </a:rPr>
              <a:t>{{SPOT1}}</a:t>
            </a:r>
          </a:p>
          <a:p>
            <a:pPr algn="l">
              <a:spcBef>
                <a:spcPts val="140"/>
              </a:spcBef>
              <a:spcAft>
                <a:spcPts val="140"/>
              </a:spcAft>
            </a:pPr>
            <a:r>
              <a:rPr sz="850">
                <a:solidFill>
                  <a:srgbClr val="1E2328"/>
                </a:solidFill>
                <a:latin typeface="HGS明朝E"/>
                <a:ea typeface="HGS明朝E"/>
                <a:cs typeface="HGS明朝E"/>
              </a:rPr>
              <a:t>{{SPOT2}}</a:t>
            </a:r>
          </a:p>
          <a:p>
            <a:pPr algn="l">
              <a:spcBef>
                <a:spcPts val="140"/>
              </a:spcBef>
              <a:spcAft>
                <a:spcPts val="140"/>
              </a:spcAft>
            </a:pPr>
            <a:r>
              <a:rPr sz="850">
                <a:solidFill>
                  <a:srgbClr val="1E2328"/>
                </a:solidFill>
                <a:latin typeface="HGS明朝E"/>
                <a:ea typeface="HGS明朝E"/>
                <a:cs typeface="HGS明朝E"/>
              </a:rPr>
              <a:t>{{SPOT3}}</a:t>
            </a:r>
          </a:p>
          <a:p>
            <a:pPr algn="l">
              <a:spcBef>
                <a:spcPts val="140"/>
              </a:spcBef>
              <a:spcAft>
                <a:spcPts val="140"/>
              </a:spcAft>
            </a:pPr>
            <a:r>
              <a:rPr sz="850">
                <a:solidFill>
                  <a:srgbClr val="1E2328"/>
                </a:solidFill>
                <a:latin typeface="HGS明朝E"/>
                <a:ea typeface="HGS明朝E"/>
                <a:cs typeface="HGS明朝E"/>
              </a:rPr>
              <a:t>{{SPOT4}}</a:t>
            </a:r>
          </a:p>
        </p:txBody>
      </p:sp>
      <p:sp>
        <p:nvSpPr>
          <p:cNvPr id="328" name="TextBox 327"/>
          <p:cNvSpPr txBox="1"/>
          <p:nvPr/>
        </p:nvSpPr>
        <p:spPr>
          <a:xfrm>
            <a:off x="9486000" y="5954203"/>
            <a:ext cx="1116000" cy="676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140"/>
              </a:spcBef>
              <a:spcAft>
                <a:spcPts val="140"/>
              </a:spcAft>
            </a:pPr>
            <a:r>
              <a:rPr sz="850">
                <a:solidFill>
                  <a:srgbClr val="1E2328"/>
                </a:solidFill>
                <a:latin typeface="HGS明朝E"/>
                <a:ea typeface="HGS明朝E"/>
                <a:cs typeface="HGS明朝E"/>
              </a:rPr>
              <a:t>{{SPOT1_D}}</a:t>
            </a:r>
          </a:p>
          <a:p>
            <a:pPr algn="l">
              <a:spcBef>
                <a:spcPts val="140"/>
              </a:spcBef>
              <a:spcAft>
                <a:spcPts val="140"/>
              </a:spcAft>
            </a:pPr>
            <a:r>
              <a:rPr sz="850">
                <a:solidFill>
                  <a:srgbClr val="1E2328"/>
                </a:solidFill>
                <a:latin typeface="HGS明朝E"/>
                <a:ea typeface="HGS明朝E"/>
                <a:cs typeface="HGS明朝E"/>
              </a:rPr>
              <a:t>{{SPOT2_D}}</a:t>
            </a:r>
          </a:p>
          <a:p>
            <a:pPr algn="l">
              <a:spcBef>
                <a:spcPts val="140"/>
              </a:spcBef>
              <a:spcAft>
                <a:spcPts val="140"/>
              </a:spcAft>
            </a:pPr>
            <a:r>
              <a:rPr sz="850">
                <a:solidFill>
                  <a:srgbClr val="1E2328"/>
                </a:solidFill>
                <a:latin typeface="HGS明朝E"/>
                <a:ea typeface="HGS明朝E"/>
                <a:cs typeface="HGS明朝E"/>
              </a:rPr>
              <a:t>{{SPOT3_D}}</a:t>
            </a:r>
          </a:p>
          <a:p>
            <a:pPr algn="l">
              <a:spcBef>
                <a:spcPts val="140"/>
              </a:spcBef>
              <a:spcAft>
                <a:spcPts val="140"/>
              </a:spcAft>
            </a:pPr>
            <a:r>
              <a:rPr sz="850">
                <a:solidFill>
                  <a:srgbClr val="1E2328"/>
                </a:solidFill>
                <a:latin typeface="HGS明朝E"/>
                <a:ea typeface="HGS明朝E"/>
                <a:cs typeface="HGS明朝E"/>
              </a:rPr>
              <a:t>{{SPOT4_D}}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93</TotalTime>
  <Words>431</Words>
  <Application>Microsoft Office PowerPoint</Application>
  <PresentationFormat>ユーザー設定</PresentationFormat>
  <Paragraphs>104</Paragraphs>
  <Slides>1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6" baseType="lpstr">
      <vt:lpstr>HGS明朝E</vt:lpstr>
      <vt:lpstr>HGS明朝E</vt:lpstr>
      <vt:lpstr>Arial</vt:lpstr>
      <vt:lpstr>Calibri</vt:lpstr>
      <vt:lpstr>Office Theme</vt:lpstr>
      <vt:lpstr>PowerPoint プレゼンテーション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新太郎 徳永</cp:lastModifiedBy>
  <cp:revision>273</cp:revision>
  <cp:lastPrinted>2026-05-25T08:50:00Z</cp:lastPrinted>
  <dcterms:created xsi:type="dcterms:W3CDTF">2026-05-19T02:44:00Z</dcterms:created>
  <dcterms:modified xsi:type="dcterms:W3CDTF">2026-07-18T09:59:23Z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C24C6A0FEA5348CD8ABC6218CDBF3994</vt:lpwstr>
  </property>
  <property fmtid="{D5CDD505-2E9C-101B-9397-08002B2CF9AE}" pid="3" name="KSOProductBuildVer">
    <vt:lpwstr>1041-11.2.0.10707</vt:lpwstr>
  </property>
</Properties>
</file>