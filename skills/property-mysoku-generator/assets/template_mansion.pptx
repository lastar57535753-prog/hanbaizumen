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1263"/>
  <p:notesSz cx="756126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AF87"/>
    <a:srgbClr val="D4B483"/>
    <a:srgbClr val="C2A676"/>
    <a:srgbClr val="414143"/>
    <a:srgbClr val="C2BDB5"/>
    <a:srgbClr val="E8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58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図形 115"/>
          <p:cNvPicPr>
            <a:picLocks noChangeAspect="1"/>
          </p:cNvPicPr>
          <p:nvPr/>
        </p:nvPicPr>
        <p:blipFill>
          <a:blip r:embed="rId3"/>
          <a:srcRect l="24913" r="22228"/>
          <a:stretch>
            <a:fillRect/>
          </a:stretch>
        </p:blipFill>
        <p:spPr>
          <a:xfrm>
            <a:off x="140419" y="679950"/>
            <a:ext cx="4624118" cy="2934537"/>
          </a:xfrm>
          <a:prstGeom prst="rect">
            <a:avLst/>
          </a:prstGeom>
          <a:effectLst>
            <a:softEdge rad="43200"/>
          </a:effectLst>
        </p:spPr>
      </p:pic>
      <p:sp>
        <p:nvSpPr>
          <p:cNvPr id="168" name="Text 70"/>
          <p:cNvSpPr>
            <a:spLocks noChangeAspect="1"/>
          </p:cNvSpPr>
          <p:nvPr/>
        </p:nvSpPr>
        <p:spPr>
          <a:xfrm>
            <a:off x="212725" y="5761355"/>
            <a:ext cx="759460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dist">
              <a:buNone/>
            </a:pPr>
            <a:r>
              <a:rPr lang="en-US" sz="900" b="1" kern="0" spc="200" dirty="0">
                <a:solidFill>
                  <a:srgbClr val="D4B483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POINT</a:t>
            </a:r>
            <a:endParaRPr lang="en-US" sz="900" b="1" kern="0" spc="200" dirty="0">
              <a:solidFill>
                <a:srgbClr val="D4B483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146" name="正方形/長方形 298"/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0" y="6800850"/>
            <a:ext cx="10680065" cy="744220"/>
          </a:xfrm>
          <a:prstGeom prst="rect">
            <a:avLst/>
          </a:prstGeom>
          <a:solidFill>
            <a:srgbClr val="BEAF87"/>
          </a:solidFill>
          <a:ln w="28575" cap="sq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85">
              <a:ln w="28575" cmpd="dbl">
                <a:solidFill>
                  <a:schemeClr val="bg1"/>
                </a:solidFill>
                <a:prstDash val="solid"/>
              </a:ln>
            </a:endParaRPr>
          </a:p>
        </p:txBody>
      </p:sp>
      <p:pic>
        <p:nvPicPr>
          <p:cNvPr id="149" name="図 297" descr="アイコン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6" t="10431" r="11551" b="11056"/>
          <a:stretch>
            <a:fillRect/>
          </a:stretch>
        </p:blipFill>
        <p:spPr>
          <a:xfrm>
            <a:off x="50400" y="6858000"/>
            <a:ext cx="561600" cy="666000"/>
          </a:xfrm>
          <a:prstGeom prst="rect">
            <a:avLst/>
          </a:prstGeom>
        </p:spPr>
      </p:pic>
      <p:sp>
        <p:nvSpPr>
          <p:cNvPr id="176" name="サブタイトル"/>
          <p:cNvSpPr txBox="1">
            <a:spLocks noChangeAspect="1"/>
          </p:cNvSpPr>
          <p:nvPr/>
        </p:nvSpPr>
        <p:spPr bwMode="auto">
          <a:xfrm>
            <a:off x="532597" y="7144042"/>
            <a:ext cx="3517347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9pPr>
          </a:lstStyle>
          <a:p>
            <a:pPr>
              <a:lnSpc>
                <a:spcPts val="1200"/>
              </a:lnSpc>
              <a:spcBef>
                <a:spcPct val="0"/>
              </a:spcBef>
              <a:buNone/>
            </a:pP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〒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143-0016</a:t>
            </a: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　東京都大田区大森北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1-14-1</a:t>
            </a: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　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FAX:03-5753-0022</a:t>
            </a:r>
          </a:p>
          <a:p>
            <a:pPr>
              <a:lnSpc>
                <a:spcPts val="1200"/>
              </a:lnSpc>
              <a:spcBef>
                <a:spcPct val="0"/>
              </a:spcBef>
              <a:buNone/>
            </a:pP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東京都知事免許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(4)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第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87972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号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公社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)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不動産保証協会会員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公社</a:t>
            </a:r>
            <a:r>
              <a:rPr lang="en-US" altLang="ja-JP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)</a:t>
            </a:r>
            <a:r>
              <a:rPr lang="ja-JP" altLang="en-US" sz="65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全日本不動産協会会員</a:t>
            </a:r>
          </a:p>
        </p:txBody>
      </p:sp>
      <p:sp>
        <p:nvSpPr>
          <p:cNvPr id="203" name="テキスト ボックス 202"/>
          <p:cNvSpPr txBox="1">
            <a:spLocks noChangeAspect="1"/>
          </p:cNvSpPr>
          <p:nvPr/>
        </p:nvSpPr>
        <p:spPr>
          <a:xfrm>
            <a:off x="2297239" y="6838619"/>
            <a:ext cx="1800000" cy="3384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HGS明朝E" panose="02020800000000000000" charset="-128"/>
                <a:ea typeface="HGS明朝E" panose="02020800000000000000" charset="-128"/>
                <a:cs typeface="HGS明朝E" panose="020B0A00000000000000" charset="-122"/>
              </a:rPr>
              <a:t>ラスターハウス</a:t>
            </a:r>
            <a:endParaRPr kumimoji="1" lang="ja-JP" altLang="en-US" sz="1600" b="1" dirty="0">
              <a:solidFill>
                <a:schemeClr val="bg2">
                  <a:lumMod val="25000"/>
                </a:schemeClr>
              </a:solidFill>
              <a:latin typeface="HGS明朝E" panose="02020800000000000000" charset="-128"/>
              <a:ea typeface="HGS明朝E" panose="02020800000000000000" charset="-128"/>
              <a:cs typeface="源ノ角ゴシック Heavy" panose="020B0A00000000000000" charset="-122"/>
            </a:endParaRPr>
          </a:p>
        </p:txBody>
      </p:sp>
      <p:pic>
        <p:nvPicPr>
          <p:cNvPr id="204" name="図形 203" descr="③-2 センチュリー21ロゴゴールド地白抜き【余白規定サイズ】改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00" y="6832800"/>
            <a:ext cx="1836000" cy="381600"/>
          </a:xfrm>
          <a:prstGeom prst="rect">
            <a:avLst/>
          </a:prstGeom>
        </p:spPr>
      </p:pic>
      <p:sp>
        <p:nvSpPr>
          <p:cNvPr id="229" name="四角形 228"/>
          <p:cNvSpPr>
            <a:spLocks noChangeAspect="1"/>
          </p:cNvSpPr>
          <p:nvPr/>
        </p:nvSpPr>
        <p:spPr>
          <a:xfrm>
            <a:off x="8486339" y="6831360"/>
            <a:ext cx="669595" cy="669595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6" name="テキスト ボックス 215"/>
          <p:cNvSpPr txBox="1">
            <a:spLocks noChangeAspect="1"/>
          </p:cNvSpPr>
          <p:nvPr/>
        </p:nvSpPr>
        <p:spPr>
          <a:xfrm>
            <a:off x="120375" y="3830161"/>
            <a:ext cx="2746650" cy="1721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{{POINT1}}</a:t>
            </a:r>
            <a:endParaRPr lang="en-US" sz="900" b="1" dirty="0">
              <a:solidFill>
                <a:srgbClr val="1E2328"/>
              </a:solidFill>
              <a:latin typeface="HGS明朝E" panose="02020800000000000000" charset="-128"/>
              <a:ea typeface="HGS明朝E" panose="02020800000000000000" charset="-128"/>
              <a:cs typeface="HGS明朝E" panose="0202080000000000000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{{POINT2}}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{{POINT3}}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{{POINT4}}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{{POINT5}}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{{POINT6}}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{{POINT7}}</a:t>
            </a:r>
            <a:endParaRPr lang="en-US" altLang="ja-JP" sz="900" b="1" dirty="0">
              <a:solidFill>
                <a:srgbClr val="1E2328"/>
              </a:solidFill>
              <a:latin typeface="HGS明朝E" panose="02020800000000000000" charset="-128"/>
              <a:ea typeface="HGS明朝E" panose="02020800000000000000" charset="-128"/>
              <a:cs typeface="HGS明朝E" panose="0202080000000000000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{{POINT8}}</a:t>
            </a:r>
          </a:p>
        </p:txBody>
      </p:sp>
      <p:pic>
        <p:nvPicPr>
          <p:cNvPr id="119" name="図形 1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124" name="図形 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128" name="図形 1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000" y="5526000"/>
            <a:ext cx="1872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85" name="Text 50"/>
          <p:cNvSpPr>
            <a:spLocks noChangeAspect="1"/>
          </p:cNvSpPr>
          <p:nvPr/>
        </p:nvSpPr>
        <p:spPr>
          <a:xfrm>
            <a:off x="156303" y="3364199"/>
            <a:ext cx="864000" cy="1980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{{CAP_MAIN}}</a:t>
            </a:r>
            <a:endParaRPr lang="ja-JP" altLang="en-US" sz="10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pic>
        <p:nvPicPr>
          <p:cNvPr id="120" name="図形 1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8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267" name="Text 50"/>
          <p:cNvSpPr>
            <a:spLocks noChangeAspect="1"/>
          </p:cNvSpPr>
          <p:nvPr/>
        </p:nvSpPr>
        <p:spPr>
          <a:xfrm>
            <a:off x="90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{{CAP3}}</a:t>
            </a:r>
            <a:endParaRPr lang="ja-JP" altLang="en-US" sz="7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68" name="Text 50"/>
          <p:cNvSpPr>
            <a:spLocks noChangeAspect="1"/>
          </p:cNvSpPr>
          <p:nvPr/>
        </p:nvSpPr>
        <p:spPr>
          <a:xfrm>
            <a:off x="1926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{{CAP4}}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69" name="Text 50"/>
          <p:cNvSpPr>
            <a:spLocks noChangeAspect="1"/>
          </p:cNvSpPr>
          <p:nvPr/>
        </p:nvSpPr>
        <p:spPr>
          <a:xfrm>
            <a:off x="3762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{{CAP5}}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72" name="Text 50"/>
          <p:cNvSpPr>
            <a:spLocks noChangeAspect="1"/>
          </p:cNvSpPr>
          <p:nvPr/>
        </p:nvSpPr>
        <p:spPr>
          <a:xfrm>
            <a:off x="5598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{{CAP6}}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0" y="0"/>
            <a:ext cx="10688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0" y="0"/>
            <a:ext cx="39600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-7403" y="0"/>
            <a:ext cx="475403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168085" y="28584"/>
            <a:ext cx="115416" cy="590616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750" b="1" dirty="0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マンション</a:t>
            </a:r>
            <a:endParaRPr sz="75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540000" y="185501"/>
            <a:ext cx="3348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{{BUILDING}}　{{FLOOR_SHORT}}</a:t>
            </a:r>
            <a:endParaRPr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3960000" y="0"/>
            <a:ext cx="32400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60000" y="0"/>
            <a:ext cx="468000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4128597" y="1669"/>
            <a:ext cx="130805" cy="646331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850" b="1" dirty="0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アクセス</a:t>
            </a:r>
            <a:endParaRPr sz="85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536000" y="58543"/>
            <a:ext cx="2628000" cy="484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{{LINE1}}　「{{STATION1}}」　　徒歩{{WALK1}}分</a:t>
            </a:r>
            <a:endParaRPr lang="en-US" sz="10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  <a:p>
            <a:r>
              <a:rPr lang="zh-TW" altLang="en-US" sz="10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{{LINE2}}　　　「{{STATION2}}」　徒歩{{WALK2}}分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ja-JP" altLang="en-US" sz="10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{{LINE3}}　　　「{{STATION3}}」　徒歩{{WALK3}}分</a:t>
            </a:r>
            <a:endParaRPr sz="10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7200000" y="0"/>
            <a:ext cx="34884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7200000" y="0"/>
            <a:ext cx="468000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7310891" y="0"/>
            <a:ext cx="246221" cy="648000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価格</a:t>
            </a:r>
            <a:endParaRPr sz="160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8080341" y="47002"/>
            <a:ext cx="2199321" cy="5539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{{PRICE}}</a:t>
            </a:r>
            <a:r>
              <a:rPr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万円</a:t>
            </a:r>
            <a:r>
              <a:rPr sz="10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（非課税）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20374" y="3651868"/>
            <a:ext cx="3641625" cy="215754"/>
          </a:xfrm>
          <a:prstGeom prst="rect">
            <a:avLst/>
          </a:prstGeom>
          <a:gradFill flip="none" rotWithShape="1">
            <a:gsLst>
              <a:gs pos="47000">
                <a:srgbClr val="E8D9B5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POINT</a:t>
            </a:r>
            <a:endParaRPr sz="1200" b="1" dirty="0">
              <a:solidFill>
                <a:schemeClr val="tx1"/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7578000" y="694800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latin typeface="HGS明朝E" panose="02020900000000000000" pitchFamily="18" charset="-128"/>
                <a:ea typeface="HGS明朝E" panose="02020900000000000000" pitchFamily="18" charset="-128"/>
              </a:rPr>
              <a:t>物件概要</a:t>
            </a:r>
            <a:endParaRPr sz="12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82115"/>
              </p:ext>
            </p:extLst>
          </p:nvPr>
        </p:nvGraphicFramePr>
        <p:xfrm>
          <a:off x="7578000" y="892800"/>
          <a:ext cx="3024000" cy="3767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所 在 地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{{ADDRESS}}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権　利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{{RIGHT}}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敷地面積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{{LAND_AREA}}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用途地域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{{ZONING}}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専有面積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{{AREA}}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テラス面積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{{TERRACE}}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間 取 り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{{MADORI}}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構　造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{{STRUCTURE}}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所在階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{{FLOOR}}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築年数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{{BUILT}}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総戸数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{{UNITS}}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分譲会社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{{DEVELOPER}}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施工会社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{{BUILDER}}</a:t>
                      </a:r>
                      <a:endParaRPr sz="850" b="0" dirty="0">
                        <a:solidFill>
                          <a:srgbClr val="1E2328"/>
                        </a:solidFill>
                        <a:latin typeface="HGS明朝E"/>
                        <a:ea typeface="HGS明朝E"/>
                        <a:cs typeface="HGS明朝E"/>
                      </a:endParaRP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管理会社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{{MGMT_CO}}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管理形態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{{MGMT_TYPE}}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管理費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{{MGMT_FEE}}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修繕積立金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{{REPAIR_FEE}}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駐車場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{{PARKING}}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ペット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{{PET}}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エレベーター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{{ELEVATOR}}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トランク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FF0000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{{TRUNK}}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現　況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{{STATUS}}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引　渡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{{HANDOVER}}</a:t>
                      </a:r>
                      <a:endParaRPr sz="850" b="0" dirty="0">
                        <a:solidFill>
                          <a:srgbClr val="1E2328"/>
                        </a:solidFill>
                        <a:latin typeface="HGS明朝E"/>
                        <a:ea typeface="HGS明朝E"/>
                        <a:cs typeface="HGS明朝E"/>
                      </a:endParaRP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308" name="Rectangle 307"/>
          <p:cNvSpPr/>
          <p:nvPr/>
        </p:nvSpPr>
        <p:spPr>
          <a:xfrm>
            <a:off x="7578000" y="5757491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rgbClr val="FFFFFF"/>
                </a:solidFill>
                <a:latin typeface="HGS明朝E"/>
                <a:ea typeface="HGS明朝E"/>
                <a:cs typeface="HGS明朝E"/>
              </a:rPr>
              <a:t>LIFE INFORMATION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578000" y="4676094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latin typeface="HGS明朝E" panose="02020900000000000000" pitchFamily="18" charset="-128"/>
                <a:ea typeface="HGS明朝E" panose="02020900000000000000" pitchFamily="18" charset="-128"/>
              </a:rPr>
              <a:t>備考</a:t>
            </a:r>
            <a:endParaRPr sz="12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7578000" y="4863294"/>
            <a:ext cx="3020638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HGS明朝E"/>
                <a:ea typeface="HGS明朝E"/>
                <a:cs typeface="HGS明朝E"/>
              </a:rPr>
              <a:t>{{NOTE1}}</a:t>
            </a:r>
            <a:endParaRPr lang="en-US" sz="8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{{NOTE2}}</a:t>
            </a: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{{NOTE3}}</a:t>
            </a: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{{NOTE4}}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032000" y="6832800"/>
            <a:ext cx="2268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latin typeface="HGS明朝E"/>
                <a:ea typeface="HGS明朝E"/>
                <a:cs typeface="HGS明朝E"/>
              </a:rPr>
              <a:t>TEL</a:t>
            </a:r>
            <a:r>
              <a:rPr lang="en-US" sz="850" b="1" dirty="0">
                <a:latin typeface="HGS明朝E"/>
                <a:ea typeface="HGS明朝E"/>
                <a:cs typeface="HGS明朝E"/>
              </a:rPr>
              <a:t>:</a:t>
            </a:r>
            <a:r>
              <a:rPr sz="850" b="1" dirty="0">
                <a:latin typeface="HGS明朝E"/>
                <a:ea typeface="HGS明朝E"/>
                <a:cs typeface="HGS明朝E"/>
              </a:rPr>
              <a:t>03-5753-0021</a:t>
            </a:r>
            <a:endParaRPr lang="en-US" sz="1100" b="1" dirty="0">
              <a:latin typeface="HGS明朝E"/>
              <a:ea typeface="HGS明朝E"/>
              <a:cs typeface="HGS明朝E"/>
            </a:endParaRPr>
          </a:p>
          <a:p>
            <a:r>
              <a:rPr lang="ja-JP" altLang="en-US" sz="850" b="1" dirty="0">
                <a:latin typeface="HGS明朝E"/>
                <a:ea typeface="HGS明朝E"/>
                <a:cs typeface="HGS明朝E"/>
              </a:rPr>
              <a:t>携帯</a:t>
            </a:r>
            <a:r>
              <a:rPr lang="en-US" altLang="ja-JP" sz="850" b="1" dirty="0">
                <a:latin typeface="HGS明朝E"/>
                <a:ea typeface="HGS明朝E"/>
                <a:cs typeface="HGS明朝E"/>
              </a:rPr>
              <a:t>:{{AGENT_MOBILE}}</a:t>
            </a:r>
            <a:r>
              <a:rPr lang="ja-JP" altLang="en-US" sz="850" b="1" dirty="0">
                <a:latin typeface="HGS明朝E"/>
                <a:ea typeface="HGS明朝E"/>
                <a:cs typeface="HGS明朝E"/>
              </a:rPr>
              <a:t>（担当）</a:t>
            </a:r>
            <a:endParaRPr lang="en-US" sz="800" b="1" dirty="0">
              <a:latin typeface="HGS明朝E"/>
              <a:ea typeface="HGS明朝E"/>
              <a:cs typeface="HGS明朝E"/>
            </a:endParaRPr>
          </a:p>
          <a:p>
            <a:r>
              <a:rPr lang="fr-FR" altLang="ja-JP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Mail:{{AGENT_MAIL}}</a:t>
            </a:r>
            <a:endParaRPr lang="en-US" sz="1100" b="1" dirty="0">
              <a:latin typeface="HGS明朝E"/>
              <a:ea typeface="HGS明朝E"/>
              <a:cs typeface="HGS明朝E"/>
            </a:endParaRPr>
          </a:p>
          <a:p>
            <a:r>
              <a:rPr lang="ja-JP" altLang="en-US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定休</a:t>
            </a:r>
            <a:r>
              <a:rPr lang="en-US" altLang="ja-JP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:</a:t>
            </a:r>
            <a:r>
              <a:rPr lang="ja-JP" altLang="en-US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毎週火曜・水曜</a:t>
            </a:r>
            <a:r>
              <a:rPr lang="en-US" altLang="ja-JP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(</a:t>
            </a:r>
            <a:r>
              <a:rPr lang="ja-JP" altLang="en-US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急用時は担当まで</a:t>
            </a:r>
            <a:r>
              <a:rPr lang="en-US" altLang="ja-JP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)</a:t>
            </a:r>
            <a:endParaRPr lang="en-US" altLang="ja-JP" sz="110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318000" y="6893555"/>
            <a:ext cx="2160000" cy="551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1" dirty="0">
                <a:latin typeface="HGS明朝E"/>
                <a:ea typeface="HGS明朝E"/>
                <a:cs typeface="HGS明朝E"/>
              </a:rPr>
              <a:t>広告掲載可（但し要連絡）</a:t>
            </a:r>
            <a:endParaRPr lang="en-US" sz="1050" b="1" dirty="0">
              <a:latin typeface="HGS明朝E"/>
              <a:ea typeface="HGS明朝E"/>
              <a:cs typeface="HGS明朝E"/>
            </a:endParaRP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latin typeface="HGS明朝E"/>
                <a:ea typeface="HGS明朝E"/>
                <a:cs typeface="HGS明朝E"/>
              </a:rPr>
              <a:t>内覧依頼</a:t>
            </a:r>
            <a:r>
              <a:rPr lang="en-US" sz="1000" b="1" dirty="0">
                <a:latin typeface="HGS明朝E"/>
                <a:ea typeface="HGS明朝E"/>
                <a:cs typeface="HGS明朝E"/>
              </a:rPr>
              <a:t>/</a:t>
            </a:r>
            <a:r>
              <a:rPr sz="1000" b="1" dirty="0">
                <a:latin typeface="HGS明朝E"/>
                <a:ea typeface="HGS明朝E"/>
                <a:cs typeface="HGS明朝E"/>
              </a:rPr>
              <a:t>資料請求</a:t>
            </a:r>
            <a:r>
              <a:rPr lang="en-US" sz="1000" b="1" dirty="0">
                <a:latin typeface="HGS明朝E"/>
                <a:ea typeface="HGS明朝E"/>
                <a:cs typeface="HGS明朝E"/>
              </a:rPr>
              <a:t>/</a:t>
            </a:r>
            <a:r>
              <a:rPr sz="1000" b="1" dirty="0" err="1">
                <a:latin typeface="HGS明朝E"/>
                <a:ea typeface="HGS明朝E"/>
                <a:cs typeface="HGS明朝E"/>
              </a:rPr>
              <a:t>広告掲載依頼</a:t>
            </a:r>
            <a:endParaRPr lang="en-US" sz="1050" b="1" dirty="0">
              <a:latin typeface="HGS明朝E"/>
              <a:ea typeface="HGS明朝E"/>
              <a:cs typeface="HGS明朝E"/>
            </a:endParaRP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latin typeface="HGS明朝E"/>
                <a:ea typeface="HGS明朝E"/>
                <a:cs typeface="HGS明朝E"/>
              </a:rPr>
              <a:t>QRコードから</a:t>
            </a:r>
            <a:r>
              <a:rPr lang="ja-JP" altLang="en-US" sz="1000" b="1" dirty="0">
                <a:latin typeface="HGS明朝E"/>
                <a:ea typeface="HGS明朝E"/>
                <a:cs typeface="HGS明朝E"/>
              </a:rPr>
              <a:t>お問合せ下さい。</a:t>
            </a:r>
            <a:endParaRPr sz="105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19" name="Rectangle 318"/>
          <p:cNvSpPr/>
          <p:nvPr/>
        </p:nvSpPr>
        <p:spPr>
          <a:xfrm>
            <a:off x="9216000" y="6861600"/>
            <a:ext cx="540000" cy="324000"/>
          </a:xfrm>
          <a:prstGeom prst="rect">
            <a:avLst/>
          </a:prstGeom>
          <a:solidFill>
            <a:srgbClr val="F4F0EA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9756000" y="6861600"/>
            <a:ext cx="86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9216000" y="6962044"/>
            <a:ext cx="54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latin typeface="HGS明朝E"/>
                <a:ea typeface="HGS明朝E"/>
                <a:cs typeface="HGS明朝E"/>
              </a:rPr>
              <a:t>取引態様</a:t>
            </a:r>
            <a:endParaRPr sz="80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9756000" y="6861600"/>
            <a:ext cx="86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媒介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216000" y="7185600"/>
            <a:ext cx="540000" cy="324000"/>
          </a:xfrm>
          <a:prstGeom prst="rect">
            <a:avLst/>
          </a:prstGeom>
          <a:solidFill>
            <a:srgbClr val="F4F0EA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9756000" y="7185600"/>
            <a:ext cx="86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216000" y="7286044"/>
            <a:ext cx="54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latin typeface="HGS明朝E"/>
                <a:ea typeface="HGS明朝E"/>
                <a:cs typeface="HGS明朝E"/>
              </a:rPr>
              <a:t>担当</a:t>
            </a:r>
            <a:endParaRPr sz="80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9756000" y="7185600"/>
            <a:ext cx="86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{{AGENT_NAME}}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DE75C3B-E259-2FAE-0E89-AAC7C4044DAE}"/>
              </a:ext>
            </a:extLst>
          </p:cNvPr>
          <p:cNvSpPr txBox="1"/>
          <p:nvPr/>
        </p:nvSpPr>
        <p:spPr>
          <a:xfrm>
            <a:off x="9720793" y="4836653"/>
            <a:ext cx="93441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↓物件詳細↓</a:t>
            </a:r>
            <a:endParaRPr lang="ja-JP" altLang="en-US" dirty="0"/>
          </a:p>
        </p:txBody>
      </p:sp>
      <p:sp>
        <p:nvSpPr>
          <p:cNvPr id="22" name="四角形 228">
            <a:extLst>
              <a:ext uri="{FF2B5EF4-FFF2-40B4-BE49-F238E27FC236}">
                <a16:creationId xmlns:a16="http://schemas.microsoft.com/office/drawing/2014/main" id="{507469B0-471A-DAFB-0788-5D14596A2148}"/>
              </a:ext>
            </a:extLst>
          </p:cNvPr>
          <p:cNvSpPr>
            <a:spLocks noChangeAspect="1"/>
          </p:cNvSpPr>
          <p:nvPr/>
        </p:nvSpPr>
        <p:spPr>
          <a:xfrm>
            <a:off x="9853201" y="5050494"/>
            <a:ext cx="669595" cy="669595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4FFF10A-C47E-B997-39D4-37912E652F2C}"/>
              </a:ext>
            </a:extLst>
          </p:cNvPr>
          <p:cNvSpPr txBox="1"/>
          <p:nvPr/>
        </p:nvSpPr>
        <p:spPr>
          <a:xfrm>
            <a:off x="140419" y="694800"/>
            <a:ext cx="7582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dirty="0">
                <a:ln w="3175">
                  <a:solidFill>
                    <a:schemeClr val="tx1">
                      <a:alpha val="36000"/>
                    </a:scheme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S明朝E" panose="02020900000000000000" pitchFamily="18" charset="-128"/>
                <a:ea typeface="HGS明朝E" panose="02020900000000000000" pitchFamily="18" charset="-128"/>
              </a:rPr>
              <a:t>{{CATCH1}}</a:t>
            </a:r>
            <a:endParaRPr lang="en-US" altLang="ja-JP" sz="1800" dirty="0">
              <a:ln w="3175">
                <a:solidFill>
                  <a:schemeClr val="tx1">
                    <a:alpha val="36000"/>
                  </a:schemeClr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r>
              <a:rPr lang="ja-JP" altLang="en-US" sz="1800" dirty="0">
                <a:ln w="3175">
                  <a:solidFill>
                    <a:schemeClr val="tx1">
                      <a:alpha val="36000"/>
                    </a:scheme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S明朝E" panose="02020900000000000000" pitchFamily="18" charset="-128"/>
                <a:ea typeface="HGS明朝E" panose="02020900000000000000" pitchFamily="18" charset="-128"/>
              </a:rPr>
              <a:t>{{CATCH2}}</a:t>
            </a:r>
          </a:p>
        </p:txBody>
      </p:sp>
      <p:pic>
        <p:nvPicPr>
          <p:cNvPr id="139" name="図形 138" descr="間取図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9566" y="788400"/>
            <a:ext cx="2653434" cy="2760672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7C2349C5-82CE-F367-269E-F016CD5CCF60}"/>
              </a:ext>
            </a:extLst>
          </p:cNvPr>
          <p:cNvGrpSpPr/>
          <p:nvPr/>
        </p:nvGrpSpPr>
        <p:grpSpPr>
          <a:xfrm>
            <a:off x="3046026" y="2663017"/>
            <a:ext cx="1607235" cy="899182"/>
            <a:chOff x="5184001" y="3809070"/>
            <a:chExt cx="1800000" cy="954159"/>
          </a:xfrm>
        </p:grpSpPr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6B4053E6-C0F1-F2B3-F5F1-336EF8C237FB}"/>
                </a:ext>
              </a:extLst>
            </p:cNvPr>
            <p:cNvSpPr/>
            <p:nvPr/>
          </p:nvSpPr>
          <p:spPr>
            <a:xfrm>
              <a:off x="5184001" y="3809070"/>
              <a:ext cx="1800000" cy="954159"/>
            </a:xfrm>
            <a:prstGeom prst="ellipse">
              <a:avLst/>
            </a:prstGeom>
            <a:solidFill>
              <a:schemeClr val="bg1">
                <a:lumMod val="85000"/>
                <a:alpha val="25000"/>
              </a:schemeClr>
            </a:solidFill>
            <a:ln w="25400">
              <a:solidFill>
                <a:schemeClr val="bg2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4150D529-E6A0-9455-A8EE-38610B16DD4F}"/>
                </a:ext>
              </a:extLst>
            </p:cNvPr>
            <p:cNvSpPr/>
            <p:nvPr/>
          </p:nvSpPr>
          <p:spPr>
            <a:xfrm>
              <a:off x="5296078" y="3819326"/>
              <a:ext cx="1564118" cy="933450"/>
            </a:xfrm>
            <a:prstGeom prst="ellipse">
              <a:avLst/>
            </a:prstGeom>
            <a:blipFill dpi="0" rotWithShape="1">
              <a:blip r:embed="rId11">
                <a:alphaModFix amt="80000"/>
              </a:blip>
              <a:srcRect/>
              <a:stretch>
                <a:fillRect/>
              </a:stretch>
            </a:blipFill>
            <a:ln w="19050">
              <a:solidFill>
                <a:schemeClr val="bg2">
                  <a:lumMod val="50000"/>
                </a:schemeClr>
              </a:solidFill>
            </a:ln>
            <a:effectLst>
              <a:glow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7C57185B-041A-83B0-BA4B-409131C5F280}"/>
                </a:ext>
              </a:extLst>
            </p:cNvPr>
            <p:cNvSpPr txBox="1"/>
            <p:nvPr/>
          </p:nvSpPr>
          <p:spPr>
            <a:xfrm>
              <a:off x="5365039" y="3854488"/>
              <a:ext cx="1426197" cy="88180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{{MADORI}}/{{DIRECTION}}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algn="ctr"/>
              <a:r>
                <a:rPr kumimoji="1" lang="en-US" altLang="ja-JP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{{AREA_MINI}}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algn="ctr"/>
              <a:r>
                <a:rPr kumimoji="1" lang="en-US" altLang="ja-JP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{{FLOOR_SHORT}}部分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pic>
        <p:nvPicPr>
          <p:cNvPr id="32" name="図形 123">
            <a:extLst>
              <a:ext uri="{FF2B5EF4-FFF2-40B4-BE49-F238E27FC236}">
                <a16:creationId xmlns:a16="http://schemas.microsoft.com/office/drawing/2014/main" id="{86344F34-9B6D-EA62-6C17-92298BC14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000" y="4012191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33" name="図形 127">
            <a:extLst>
              <a:ext uri="{FF2B5EF4-FFF2-40B4-BE49-F238E27FC236}">
                <a16:creationId xmlns:a16="http://schemas.microsoft.com/office/drawing/2014/main" id="{F1E4980B-EAE9-B7A0-DC78-1A9F4E5CA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000" y="4012191"/>
            <a:ext cx="1872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34" name="Text 50">
            <a:extLst>
              <a:ext uri="{FF2B5EF4-FFF2-40B4-BE49-F238E27FC236}">
                <a16:creationId xmlns:a16="http://schemas.microsoft.com/office/drawing/2014/main" id="{4EA29069-82BF-27FA-8480-8E688DB47164}"/>
              </a:ext>
            </a:extLst>
          </p:cNvPr>
          <p:cNvSpPr>
            <a:spLocks noChangeAspect="1"/>
          </p:cNvSpPr>
          <p:nvPr/>
        </p:nvSpPr>
        <p:spPr>
          <a:xfrm>
            <a:off x="3762000" y="4966191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{{CAP1}}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35" name="Text 50">
            <a:extLst>
              <a:ext uri="{FF2B5EF4-FFF2-40B4-BE49-F238E27FC236}">
                <a16:creationId xmlns:a16="http://schemas.microsoft.com/office/drawing/2014/main" id="{A29E3404-1B0C-7E51-511B-13EDFFF936C5}"/>
              </a:ext>
            </a:extLst>
          </p:cNvPr>
          <p:cNvSpPr>
            <a:spLocks noChangeAspect="1"/>
          </p:cNvSpPr>
          <p:nvPr/>
        </p:nvSpPr>
        <p:spPr>
          <a:xfrm>
            <a:off x="5598000" y="4966191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{{CAP2}}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7596000" y="5954203"/>
            <a:ext cx="1872000" cy="6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{{SPOT1}}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{{SPOT2}}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{{SPOT3}}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{{SPOT4}}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9486000" y="5954203"/>
            <a:ext cx="1116000" cy="6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{{SPOT1_D}}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{{SPOT2_D}}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{{SPOT3_D}}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{{SPOT4_D}}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431</Words>
  <Application>Microsoft Office PowerPoint</Application>
  <PresentationFormat>ユーザー設定</PresentationFormat>
  <Paragraphs>104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HGS明朝E</vt:lpstr>
      <vt:lpstr>HGS明朝E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新太郎 徳永</cp:lastModifiedBy>
  <cp:revision>273</cp:revision>
  <cp:lastPrinted>2026-05-25T08:50:00Z</cp:lastPrinted>
  <dcterms:created xsi:type="dcterms:W3CDTF">2026-05-19T02:44:00Z</dcterms:created>
  <dcterms:modified xsi:type="dcterms:W3CDTF">2026-07-18T09:59:23Z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C24C6A0FEA5348CD8ABC6218CDBF3994</vt:lpwstr>
  </property>
  <property fmtid="{D5CDD505-2E9C-101B-9397-08002B2CF9AE}" pid="3" name="KSOProductBuildVer">
    <vt:lpwstr>1041-11.2.0.10707</vt:lpwstr>
  </property>
</Properties>
</file>